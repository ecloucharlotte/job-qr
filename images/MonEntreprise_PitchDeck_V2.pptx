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5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6497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0" y="64008"/>
            <a:ext cx="5120640" cy="5079492"/>
          </a:xfrm>
          <a:prstGeom prst="rect">
            <a:avLst/>
          </a:prstGeom>
          <a:solidFill>
            <a:srgbClr val="0C1117"/>
          </a:solidFill>
          <a:ln w="12700">
            <a:solidFill>
              <a:srgbClr val="0C1117"/>
            </a:solidFill>
            <a:prstDash val="solid"/>
          </a:ln>
        </p:spPr>
      </p:sp>
      <p:sp>
        <p:nvSpPr>
          <p:cNvPr id="4" name="Shape 2"/>
          <p:cNvSpPr/>
          <p:nvPr/>
        </p:nvSpPr>
        <p:spPr>
          <a:xfrm>
            <a:off x="5120640" y="64008"/>
            <a:ext cx="4023360" cy="5079492"/>
          </a:xfrm>
          <a:prstGeom prst="rect">
            <a:avLst/>
          </a:prstGeom>
          <a:solidFill>
            <a:srgbClr val="1A2535"/>
          </a:solidFill>
          <a:ln w="12700">
            <a:solidFill>
              <a:srgbClr val="1A2535"/>
            </a:solidFill>
            <a:prstDash val="solid"/>
          </a:ln>
        </p:spPr>
      </p:sp>
      <p:sp>
        <p:nvSpPr>
          <p:cNvPr id="5" name="Shape 3"/>
          <p:cNvSpPr/>
          <p:nvPr/>
        </p:nvSpPr>
        <p:spPr>
          <a:xfrm>
            <a:off x="5120640" y="64008"/>
            <a:ext cx="54864" cy="5079492"/>
          </a:xfrm>
          <a:prstGeom prst="rect">
            <a:avLst/>
          </a:prstGeom>
          <a:solidFill>
            <a:srgbClr val="C8792B"/>
          </a:solidFill>
          <a:ln w="12700">
            <a:solidFill>
              <a:srgbClr val="C8792B"/>
            </a:solidFill>
            <a:prstDash val="solid"/>
          </a:ln>
        </p:spPr>
      </p:sp>
      <p:pic>
        <p:nvPicPr>
          <p:cNvPr id="6" name="Image 0" descr="preencoded.png"/>
          <p:cNvPicPr>
            <a:picLocks noChangeAspect="1"/>
          </p:cNvPicPr>
          <p:nvPr/>
        </p:nvPicPr>
        <p:blipFill>
          <a:blip r:embed="rId3"/>
          <a:stretch>
            <a:fillRect/>
          </a:stretch>
        </p:blipFill>
        <p:spPr>
          <a:xfrm>
            <a:off x="6400800" y="1097280"/>
            <a:ext cx="1463040" cy="1463040"/>
          </a:xfrm>
          <a:prstGeom prst="rect">
            <a:avLst/>
          </a:prstGeom>
        </p:spPr>
      </p:pic>
      <p:sp>
        <p:nvSpPr>
          <p:cNvPr id="8" name="Text 5"/>
          <p:cNvSpPr/>
          <p:nvPr/>
        </p:nvSpPr>
        <p:spPr>
          <a:xfrm>
            <a:off x="411480" y="640080"/>
            <a:ext cx="4572000" cy="1005840"/>
          </a:xfrm>
          <a:prstGeom prst="rect">
            <a:avLst/>
          </a:prstGeom>
          <a:noFill/>
          <a:ln/>
        </p:spPr>
        <p:txBody>
          <a:bodyPr wrap="square" lIns="0" tIns="0" rIns="0" bIns="0" rtlCol="0" anchor="ctr"/>
          <a:lstStyle/>
          <a:p>
            <a:pPr marL="0" indent="0" algn="l">
              <a:buNone/>
            </a:pPr>
            <a:r>
              <a:rPr lang="en-US" sz="4800" b="1" dirty="0">
                <a:solidFill>
                  <a:srgbClr val="F0EDE6"/>
                </a:solidFill>
              </a:rPr>
              <a:t>MonEntreprise</a:t>
            </a:r>
            <a:endParaRPr lang="en-US" sz="4800" dirty="0"/>
          </a:p>
        </p:txBody>
      </p:sp>
      <p:sp>
        <p:nvSpPr>
          <p:cNvPr id="9" name="Shape 6"/>
          <p:cNvSpPr/>
          <p:nvPr/>
        </p:nvSpPr>
        <p:spPr>
          <a:xfrm>
            <a:off x="411480" y="1691640"/>
            <a:ext cx="4114800" cy="54864"/>
          </a:xfrm>
          <a:prstGeom prst="rect">
            <a:avLst/>
          </a:prstGeom>
          <a:solidFill>
            <a:srgbClr val="C8792B"/>
          </a:solidFill>
          <a:ln w="12700">
            <a:solidFill>
              <a:srgbClr val="C8792B"/>
            </a:solidFill>
            <a:prstDash val="solid"/>
          </a:ln>
        </p:spPr>
      </p:sp>
      <p:sp>
        <p:nvSpPr>
          <p:cNvPr id="10" name="Text 7"/>
          <p:cNvSpPr/>
          <p:nvPr/>
        </p:nvSpPr>
        <p:spPr>
          <a:xfrm>
            <a:off x="411480" y="1828800"/>
            <a:ext cx="4572000" cy="777240"/>
          </a:xfrm>
          <a:prstGeom prst="rect">
            <a:avLst/>
          </a:prstGeom>
          <a:noFill/>
          <a:ln/>
        </p:spPr>
        <p:txBody>
          <a:bodyPr wrap="square" lIns="0" tIns="0" rIns="0" bIns="0" rtlCol="0" anchor="t"/>
          <a:lstStyle/>
          <a:p>
            <a:pPr marL="0" indent="0" algn="l">
              <a:buNone/>
            </a:pPr>
            <a:r>
              <a:rPr lang="en-US" sz="1500" dirty="0">
                <a:solidFill>
                  <a:srgbClr val="F0EDE6"/>
                </a:solidFill>
              </a:rPr>
              <a:t>Plateforme numérique d'inclusion financière</a:t>
            </a:r>
            <a:endParaRPr lang="en-US" sz="1500" dirty="0"/>
          </a:p>
          <a:p>
            <a:pPr marL="0" indent="0" algn="l">
              <a:buNone/>
            </a:pPr>
            <a:r>
              <a:rPr lang="en-US" sz="1500" dirty="0">
                <a:solidFill>
                  <a:srgbClr val="F0EDE6"/>
                </a:solidFill>
              </a:rPr>
              <a:t>des MPME au Bénin</a:t>
            </a:r>
            <a:endParaRPr lang="en-US" sz="1500" dirty="0"/>
          </a:p>
        </p:txBody>
      </p:sp>
      <p:sp>
        <p:nvSpPr>
          <p:cNvPr id="11" name="Text 8"/>
          <p:cNvSpPr/>
          <p:nvPr/>
        </p:nvSpPr>
        <p:spPr>
          <a:xfrm>
            <a:off x="411480" y="2697480"/>
            <a:ext cx="4572000" cy="411480"/>
          </a:xfrm>
          <a:prstGeom prst="rect">
            <a:avLst/>
          </a:prstGeom>
          <a:noFill/>
          <a:ln/>
        </p:spPr>
        <p:txBody>
          <a:bodyPr wrap="square" lIns="0" tIns="0" rIns="0" bIns="0" rtlCol="0" anchor="ctr"/>
          <a:lstStyle/>
          <a:p>
            <a:pPr marL="0" indent="0" algn="l">
              <a:buNone/>
            </a:pPr>
            <a:r>
              <a:rPr lang="en-US" sz="1400" i="1" dirty="0">
                <a:solidFill>
                  <a:srgbClr val="C8792B"/>
                </a:solidFill>
              </a:rPr>
              <a:t>De l'idée informelle au crédit obtenu  en 4 étapes.</a:t>
            </a:r>
            <a:endParaRPr lang="en-US" sz="1400" dirty="0"/>
          </a:p>
        </p:txBody>
      </p:sp>
      <p:sp>
        <p:nvSpPr>
          <p:cNvPr id="12" name="Text 9"/>
          <p:cNvSpPr/>
          <p:nvPr/>
        </p:nvSpPr>
        <p:spPr>
          <a:xfrm>
            <a:off x="5349240" y="2651760"/>
            <a:ext cx="3566160" cy="822960"/>
          </a:xfrm>
          <a:prstGeom prst="rect">
            <a:avLst/>
          </a:prstGeom>
          <a:noFill/>
          <a:ln/>
        </p:spPr>
        <p:txBody>
          <a:bodyPr wrap="square" rtlCol="0" anchor="ctr"/>
          <a:lstStyle/>
          <a:p>
            <a:pPr marL="0" indent="0" algn="ctr">
              <a:buNone/>
            </a:pPr>
            <a:r>
              <a:rPr lang="en-US" sz="1300" i="1" dirty="0">
                <a:solidFill>
                  <a:srgbClr val="F0EDE6"/>
                </a:solidFill>
              </a:rPr>
              <a:t>Vision  •  Solution</a:t>
            </a:r>
            <a:endParaRPr lang="en-US" sz="1300" dirty="0"/>
          </a:p>
          <a:p>
            <a:pPr marL="0" indent="0" algn="ctr">
              <a:buNone/>
            </a:pPr>
            <a:r>
              <a:rPr lang="en-US" sz="1300" i="1" dirty="0">
                <a:solidFill>
                  <a:srgbClr val="F0EDE6"/>
                </a:solidFill>
              </a:rPr>
              <a:t>Faisabilité  •  Équipe</a:t>
            </a:r>
            <a:endParaRPr lang="en-US" sz="1300" dirty="0"/>
          </a:p>
        </p:txBody>
      </p:sp>
      <p:sp>
        <p:nvSpPr>
          <p:cNvPr id="13" name="Shape 10"/>
          <p:cNvSpPr/>
          <p:nvPr/>
        </p:nvSpPr>
        <p:spPr>
          <a:xfrm>
            <a:off x="0" y="4892040"/>
            <a:ext cx="9144000" cy="251460"/>
          </a:xfrm>
          <a:prstGeom prst="rect">
            <a:avLst/>
          </a:prstGeom>
          <a:solidFill>
            <a:srgbClr val="1A2535"/>
          </a:solidFill>
          <a:ln w="12700">
            <a:solidFill>
              <a:srgbClr val="1A2535"/>
            </a:solidFill>
            <a:prstDash val="solid"/>
          </a:ln>
        </p:spPr>
      </p:sp>
      <p:sp>
        <p:nvSpPr>
          <p:cNvPr id="14" name="Text 11"/>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Bertos Periclès TOLO KPADONOU </a:t>
            </a:r>
            <a:r>
              <a:rPr lang="en-US" sz="800" dirty="0" smtClean="0">
                <a:solidFill>
                  <a:srgbClr val="C8792B"/>
                </a:solidFill>
              </a:rPr>
              <a:t>- Chef </a:t>
            </a:r>
            <a:r>
              <a:rPr lang="en-US" sz="800" dirty="0">
                <a:solidFill>
                  <a:srgbClr val="C8792B"/>
                </a:solidFill>
              </a:rPr>
              <a:t>d'équipe  |  Superviseur : Freddy AGBONA — Software Engineer, Cofondateur Lurnix</a:t>
            </a:r>
            <a:endParaRPr lang="en-US" sz="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01 — LE PROBLÈME</a:t>
            </a:r>
            <a:endParaRPr lang="en-US" sz="900" dirty="0"/>
          </a:p>
        </p:txBody>
      </p:sp>
      <p:sp>
        <p:nvSpPr>
          <p:cNvPr id="5" name="Shape 3"/>
          <p:cNvSpPr/>
          <p:nvPr/>
        </p:nvSpPr>
        <p:spPr>
          <a:xfrm>
            <a:off x="0" y="4892040"/>
            <a:ext cx="9144000" cy="251460"/>
          </a:xfrm>
          <a:prstGeom prst="rect">
            <a:avLst/>
          </a:prstGeom>
          <a:solidFill>
            <a:srgbClr val="1A2535"/>
          </a:solidFill>
          <a:ln w="12700">
            <a:solidFill>
              <a:srgbClr val="1A2535"/>
            </a:solidFill>
            <a:prstDash val="solid"/>
          </a:ln>
        </p:spPr>
      </p:sp>
      <p:sp>
        <p:nvSpPr>
          <p:cNvPr id="6" name="Text 4"/>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7" name="Text 5"/>
          <p:cNvSpPr/>
          <p:nvPr/>
        </p:nvSpPr>
        <p:spPr>
          <a:xfrm>
            <a:off x="411480" y="566928"/>
            <a:ext cx="8321040" cy="502920"/>
          </a:xfrm>
          <a:prstGeom prst="rect">
            <a:avLst/>
          </a:prstGeom>
          <a:noFill/>
          <a:ln/>
        </p:spPr>
        <p:txBody>
          <a:bodyPr wrap="square" lIns="0" tIns="0" rIns="0" bIns="0" rtlCol="0" anchor="ctr"/>
          <a:lstStyle/>
          <a:p>
            <a:pPr marL="0" indent="0" algn="l">
              <a:buNone/>
            </a:pPr>
            <a:r>
              <a:rPr lang="en-US" sz="1300" dirty="0">
                <a:solidFill>
                  <a:srgbClr val="F0EDE6"/>
                </a:solidFill>
              </a:rPr>
              <a:t>Au Bénin, des milliers de MPME viables sont exclues du financement </a:t>
            </a:r>
            <a:r>
              <a:rPr lang="en-US" sz="1300" dirty="0" err="1">
                <a:solidFill>
                  <a:srgbClr val="F0EDE6"/>
                </a:solidFill>
              </a:rPr>
              <a:t>formel</a:t>
            </a:r>
            <a:r>
              <a:rPr lang="en-US" sz="1300" dirty="0">
                <a:solidFill>
                  <a:srgbClr val="F0EDE6"/>
                </a:solidFill>
              </a:rPr>
              <a:t> </a:t>
            </a:r>
            <a:r>
              <a:rPr lang="en-US" sz="1300" dirty="0" smtClean="0">
                <a:solidFill>
                  <a:srgbClr val="F0EDE6"/>
                </a:solidFill>
              </a:rPr>
              <a:t>non </a:t>
            </a:r>
            <a:r>
              <a:rPr lang="en-US" sz="1300" dirty="0">
                <a:solidFill>
                  <a:srgbClr val="F0EDE6"/>
                </a:solidFill>
              </a:rPr>
              <a:t>par manque de mérite, mais par manque d'outils adaptés.</a:t>
            </a:r>
            <a:endParaRPr lang="en-US" sz="1300" dirty="0"/>
          </a:p>
        </p:txBody>
      </p:sp>
      <p:sp>
        <p:nvSpPr>
          <p:cNvPr id="8" name="Shape 6"/>
          <p:cNvSpPr/>
          <p:nvPr/>
        </p:nvSpPr>
        <p:spPr>
          <a:xfrm>
            <a:off x="411480" y="1188720"/>
            <a:ext cx="1828800" cy="2606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9" name="Text 7"/>
          <p:cNvSpPr/>
          <p:nvPr/>
        </p:nvSpPr>
        <p:spPr>
          <a:xfrm>
            <a:off x="411480" y="1280160"/>
            <a:ext cx="1828800" cy="685800"/>
          </a:xfrm>
          <a:prstGeom prst="rect">
            <a:avLst/>
          </a:prstGeom>
          <a:noFill/>
          <a:ln/>
        </p:spPr>
        <p:txBody>
          <a:bodyPr wrap="square" lIns="0" tIns="0" rIns="0" bIns="0" rtlCol="0" anchor="ctr"/>
          <a:lstStyle/>
          <a:p>
            <a:pPr marL="0" indent="0" algn="ctr">
              <a:buNone/>
            </a:pPr>
            <a:r>
              <a:rPr lang="en-US" sz="2600" b="1" dirty="0">
                <a:solidFill>
                  <a:srgbClr val="C8792B"/>
                </a:solidFill>
              </a:rPr>
              <a:t>250 000+</a:t>
            </a:r>
            <a:endParaRPr lang="en-US" sz="2600" dirty="0"/>
          </a:p>
        </p:txBody>
      </p:sp>
      <p:sp>
        <p:nvSpPr>
          <p:cNvPr id="10" name="Text 8"/>
          <p:cNvSpPr/>
          <p:nvPr/>
        </p:nvSpPr>
        <p:spPr>
          <a:xfrm>
            <a:off x="411480" y="1993392"/>
            <a:ext cx="1828800" cy="548640"/>
          </a:xfrm>
          <a:prstGeom prst="rect">
            <a:avLst/>
          </a:prstGeom>
          <a:noFill/>
          <a:ln/>
        </p:spPr>
        <p:txBody>
          <a:bodyPr wrap="square" lIns="0" tIns="0" rIns="0" bIns="0" rtlCol="0" anchor="t"/>
          <a:lstStyle/>
          <a:p>
            <a:pPr marL="0" indent="0" algn="ctr">
              <a:buNone/>
            </a:pPr>
            <a:r>
              <a:rPr lang="en-US" sz="900" dirty="0">
                <a:solidFill>
                  <a:srgbClr val="F0EDE6"/>
                </a:solidFill>
              </a:rPr>
              <a:t>MPME recensées</a:t>
            </a:r>
            <a:endParaRPr lang="en-US" sz="900" dirty="0"/>
          </a:p>
          <a:p>
            <a:pPr marL="0" indent="0" algn="ctr">
              <a:buNone/>
            </a:pPr>
            <a:r>
              <a:rPr lang="en-US" sz="900" dirty="0">
                <a:solidFill>
                  <a:srgbClr val="F0EDE6"/>
                </a:solidFill>
              </a:rPr>
              <a:t>au Bénin (</a:t>
            </a:r>
            <a:r>
              <a:rPr lang="en-US" sz="900" dirty="0" smtClean="0">
                <a:solidFill>
                  <a:srgbClr val="F0EDE6"/>
                </a:solidFill>
              </a:rPr>
              <a:t>INSAE 2023)</a:t>
            </a:r>
            <a:endParaRPr lang="en-US" sz="900" dirty="0"/>
          </a:p>
        </p:txBody>
      </p:sp>
      <p:sp>
        <p:nvSpPr>
          <p:cNvPr id="11" name="Text 9"/>
          <p:cNvSpPr/>
          <p:nvPr/>
        </p:nvSpPr>
        <p:spPr>
          <a:xfrm>
            <a:off x="411480" y="2560320"/>
            <a:ext cx="1828800" cy="548640"/>
          </a:xfrm>
          <a:prstGeom prst="rect">
            <a:avLst/>
          </a:prstGeom>
          <a:noFill/>
          <a:ln/>
        </p:spPr>
        <p:txBody>
          <a:bodyPr wrap="square" lIns="0" tIns="0" rIns="0" bIns="0" rtlCol="0" anchor="ctr"/>
          <a:lstStyle/>
          <a:p>
            <a:pPr marL="0" indent="0" algn="ctr">
              <a:buNone/>
            </a:pPr>
            <a:r>
              <a:rPr lang="en-US" sz="1000" b="1" i="1" dirty="0">
                <a:solidFill>
                  <a:srgbClr val="C8792B"/>
                </a:solidFill>
              </a:rPr>
              <a:t>dont la majorité reste</a:t>
            </a:r>
            <a:endParaRPr lang="en-US" sz="1000" b="1" dirty="0"/>
          </a:p>
          <a:p>
            <a:pPr marL="0" indent="0" algn="ctr">
              <a:buNone/>
            </a:pPr>
            <a:r>
              <a:rPr lang="en-US" sz="1000" b="1" i="1" dirty="0">
                <a:solidFill>
                  <a:srgbClr val="C8792B"/>
                </a:solidFill>
              </a:rPr>
              <a:t>hors du système financier formel</a:t>
            </a:r>
            <a:endParaRPr lang="en-US" sz="1000" b="1" dirty="0"/>
          </a:p>
        </p:txBody>
      </p:sp>
      <p:sp>
        <p:nvSpPr>
          <p:cNvPr id="12" name="Shape 10"/>
          <p:cNvSpPr/>
          <p:nvPr/>
        </p:nvSpPr>
        <p:spPr>
          <a:xfrm>
            <a:off x="2331720" y="1188720"/>
            <a:ext cx="1545336" cy="2606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3" name="Shape 11"/>
          <p:cNvSpPr/>
          <p:nvPr/>
        </p:nvSpPr>
        <p:spPr>
          <a:xfrm>
            <a:off x="2331720" y="1188720"/>
            <a:ext cx="1545336" cy="292608"/>
          </a:xfrm>
          <a:prstGeom prst="rect">
            <a:avLst/>
          </a:prstGeom>
          <a:solidFill>
            <a:srgbClr val="C8792B"/>
          </a:solidFill>
          <a:ln w="12700">
            <a:solidFill>
              <a:srgbClr val="C8792B"/>
            </a:solidFill>
            <a:prstDash val="solid"/>
          </a:ln>
        </p:spPr>
      </p:sp>
      <p:sp>
        <p:nvSpPr>
          <p:cNvPr id="14" name="Text 12"/>
          <p:cNvSpPr/>
          <p:nvPr/>
        </p:nvSpPr>
        <p:spPr>
          <a:xfrm>
            <a:off x="2331720" y="1188720"/>
            <a:ext cx="1545336" cy="292608"/>
          </a:xfrm>
          <a:prstGeom prst="rect">
            <a:avLst/>
          </a:prstGeom>
          <a:noFill/>
          <a:ln/>
        </p:spPr>
        <p:txBody>
          <a:bodyPr wrap="square" lIns="0" tIns="0" rIns="0" bIns="0" rtlCol="0" anchor="ctr"/>
          <a:lstStyle/>
          <a:p>
            <a:pPr marL="0" indent="0" algn="ctr">
              <a:buNone/>
            </a:pPr>
            <a:r>
              <a:rPr lang="en-US" sz="900" b="1" dirty="0">
                <a:solidFill>
                  <a:srgbClr val="0C1117"/>
                </a:solidFill>
              </a:rPr>
              <a:t>P1</a:t>
            </a:r>
            <a:endParaRPr lang="en-US" sz="900" dirty="0"/>
          </a:p>
        </p:txBody>
      </p:sp>
      <p:sp>
        <p:nvSpPr>
          <p:cNvPr id="15" name="Text 13"/>
          <p:cNvSpPr/>
          <p:nvPr/>
        </p:nvSpPr>
        <p:spPr>
          <a:xfrm>
            <a:off x="2331720" y="1499616"/>
            <a:ext cx="1545336" cy="475488"/>
          </a:xfrm>
          <a:prstGeom prst="rect">
            <a:avLst/>
          </a:prstGeom>
          <a:noFill/>
          <a:ln/>
        </p:spPr>
        <p:txBody>
          <a:bodyPr wrap="square" lIns="0" tIns="50800" rIns="50800" bIns="0" rtlCol="0" anchor="ctr"/>
          <a:lstStyle/>
          <a:p>
            <a:pPr marL="0" indent="0" algn="ctr">
              <a:buNone/>
            </a:pPr>
            <a:r>
              <a:rPr lang="en-US" sz="1000" b="1" dirty="0">
                <a:solidFill>
                  <a:srgbClr val="F0EDE6"/>
                </a:solidFill>
              </a:rPr>
              <a:t>Méconnaissance</a:t>
            </a:r>
            <a:endParaRPr lang="en-US" sz="1000" dirty="0"/>
          </a:p>
          <a:p>
            <a:pPr marL="0" indent="0" algn="ctr">
              <a:buNone/>
            </a:pPr>
            <a:r>
              <a:rPr lang="en-US" sz="1000" b="1" dirty="0">
                <a:solidFill>
                  <a:srgbClr val="F0EDE6"/>
                </a:solidFill>
              </a:rPr>
              <a:t>du marché</a:t>
            </a:r>
            <a:endParaRPr lang="en-US" sz="1000" dirty="0"/>
          </a:p>
        </p:txBody>
      </p:sp>
      <p:sp>
        <p:nvSpPr>
          <p:cNvPr id="16" name="Text 14"/>
          <p:cNvSpPr/>
          <p:nvPr/>
        </p:nvSpPr>
        <p:spPr>
          <a:xfrm>
            <a:off x="2331720" y="2011680"/>
            <a:ext cx="1545336" cy="1280160"/>
          </a:xfrm>
          <a:prstGeom prst="rect">
            <a:avLst/>
          </a:prstGeom>
          <a:noFill/>
          <a:ln/>
        </p:spPr>
        <p:txBody>
          <a:bodyPr wrap="square" lIns="0" tIns="76200" rIns="76200" bIns="0" rtlCol="0" anchor="t"/>
          <a:lstStyle/>
          <a:p>
            <a:pPr marL="0" indent="0" algn="ctr">
              <a:buNone/>
            </a:pPr>
            <a:r>
              <a:rPr lang="en-US" sz="900" dirty="0">
                <a:solidFill>
                  <a:srgbClr val="F0EDE6"/>
                </a:solidFill>
              </a:rPr>
              <a:t>Pas d'étude : clientèle,</a:t>
            </a:r>
            <a:endParaRPr lang="en-US" sz="900" dirty="0"/>
          </a:p>
          <a:p>
            <a:pPr marL="0" indent="0" algn="ctr">
              <a:buNone/>
            </a:pPr>
            <a:r>
              <a:rPr lang="en-US" sz="900" dirty="0">
                <a:solidFill>
                  <a:srgbClr val="F0EDE6"/>
                </a:solidFill>
              </a:rPr>
              <a:t>concurrence, prix inconnus</a:t>
            </a:r>
            <a:endParaRPr lang="en-US" sz="900" dirty="0"/>
          </a:p>
        </p:txBody>
      </p:sp>
      <p:sp>
        <p:nvSpPr>
          <p:cNvPr id="17" name="Shape 15"/>
          <p:cNvSpPr/>
          <p:nvPr/>
        </p:nvSpPr>
        <p:spPr>
          <a:xfrm>
            <a:off x="3886200" y="2450592"/>
            <a:ext cx="54864" cy="54864"/>
          </a:xfrm>
          <a:prstGeom prst="rect">
            <a:avLst/>
          </a:prstGeom>
          <a:solidFill>
            <a:srgbClr val="C8792B"/>
          </a:solidFill>
          <a:ln w="12700">
            <a:solidFill>
              <a:srgbClr val="C8792B"/>
            </a:solidFill>
            <a:prstDash val="solid"/>
          </a:ln>
        </p:spPr>
      </p:sp>
      <p:sp>
        <p:nvSpPr>
          <p:cNvPr id="18" name="Shape 16"/>
          <p:cNvSpPr/>
          <p:nvPr/>
        </p:nvSpPr>
        <p:spPr>
          <a:xfrm>
            <a:off x="3950208" y="1188720"/>
            <a:ext cx="1545336" cy="2606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9" name="Shape 17"/>
          <p:cNvSpPr/>
          <p:nvPr/>
        </p:nvSpPr>
        <p:spPr>
          <a:xfrm>
            <a:off x="3950208" y="1188720"/>
            <a:ext cx="1545336" cy="292608"/>
          </a:xfrm>
          <a:prstGeom prst="rect">
            <a:avLst/>
          </a:prstGeom>
          <a:solidFill>
            <a:srgbClr val="C8792B"/>
          </a:solidFill>
          <a:ln w="12700">
            <a:solidFill>
              <a:srgbClr val="C8792B"/>
            </a:solidFill>
            <a:prstDash val="solid"/>
          </a:ln>
        </p:spPr>
      </p:sp>
      <p:sp>
        <p:nvSpPr>
          <p:cNvPr id="20" name="Text 18"/>
          <p:cNvSpPr/>
          <p:nvPr/>
        </p:nvSpPr>
        <p:spPr>
          <a:xfrm>
            <a:off x="3950208" y="1188720"/>
            <a:ext cx="1545336" cy="292608"/>
          </a:xfrm>
          <a:prstGeom prst="rect">
            <a:avLst/>
          </a:prstGeom>
          <a:noFill/>
          <a:ln/>
        </p:spPr>
        <p:txBody>
          <a:bodyPr wrap="square" lIns="0" tIns="0" rIns="0" bIns="0" rtlCol="0" anchor="ctr"/>
          <a:lstStyle/>
          <a:p>
            <a:pPr marL="0" indent="0" algn="ctr">
              <a:buNone/>
            </a:pPr>
            <a:r>
              <a:rPr lang="en-US" sz="900" b="1" dirty="0">
                <a:solidFill>
                  <a:srgbClr val="0C1117"/>
                </a:solidFill>
              </a:rPr>
              <a:t>P2</a:t>
            </a:r>
            <a:endParaRPr lang="en-US" sz="900" dirty="0"/>
          </a:p>
        </p:txBody>
      </p:sp>
      <p:sp>
        <p:nvSpPr>
          <p:cNvPr id="21" name="Text 19"/>
          <p:cNvSpPr/>
          <p:nvPr/>
        </p:nvSpPr>
        <p:spPr>
          <a:xfrm>
            <a:off x="3950208" y="1499616"/>
            <a:ext cx="1545336" cy="475488"/>
          </a:xfrm>
          <a:prstGeom prst="rect">
            <a:avLst/>
          </a:prstGeom>
          <a:noFill/>
          <a:ln/>
        </p:spPr>
        <p:txBody>
          <a:bodyPr wrap="square" lIns="0" tIns="50800" rIns="50800" bIns="0" rtlCol="0" anchor="ctr"/>
          <a:lstStyle/>
          <a:p>
            <a:pPr marL="0" indent="0" algn="ctr">
              <a:buNone/>
            </a:pPr>
            <a:r>
              <a:rPr lang="en-US" sz="1000" b="1" dirty="0">
                <a:solidFill>
                  <a:srgbClr val="F0EDE6"/>
                </a:solidFill>
              </a:rPr>
              <a:t>Comptabilité</a:t>
            </a:r>
            <a:endParaRPr lang="en-US" sz="1000" dirty="0"/>
          </a:p>
          <a:p>
            <a:pPr marL="0" indent="0" algn="ctr">
              <a:buNone/>
            </a:pPr>
            <a:r>
              <a:rPr lang="en-US" sz="1000" b="1" dirty="0">
                <a:solidFill>
                  <a:srgbClr val="F0EDE6"/>
                </a:solidFill>
              </a:rPr>
              <a:t>défaillante</a:t>
            </a:r>
            <a:endParaRPr lang="en-US" sz="1000" dirty="0"/>
          </a:p>
        </p:txBody>
      </p:sp>
      <p:sp>
        <p:nvSpPr>
          <p:cNvPr id="22" name="Text 20"/>
          <p:cNvSpPr/>
          <p:nvPr/>
        </p:nvSpPr>
        <p:spPr>
          <a:xfrm>
            <a:off x="3950208" y="2011680"/>
            <a:ext cx="1545336" cy="1280160"/>
          </a:xfrm>
          <a:prstGeom prst="rect">
            <a:avLst/>
          </a:prstGeom>
          <a:noFill/>
          <a:ln/>
        </p:spPr>
        <p:txBody>
          <a:bodyPr wrap="square" lIns="0" tIns="76200" rIns="76200" bIns="0" rtlCol="0" anchor="t"/>
          <a:lstStyle/>
          <a:p>
            <a:pPr marL="0" indent="0" algn="ctr">
              <a:buNone/>
            </a:pPr>
            <a:r>
              <a:rPr lang="en-US" sz="900" dirty="0">
                <a:solidFill>
                  <a:srgbClr val="F0EDE6"/>
                </a:solidFill>
              </a:rPr>
              <a:t>Sans données financières,</a:t>
            </a:r>
            <a:endParaRPr lang="en-US" sz="900" dirty="0"/>
          </a:p>
          <a:p>
            <a:pPr marL="0" indent="0" algn="ctr">
              <a:buNone/>
            </a:pPr>
            <a:r>
              <a:rPr lang="en-US" sz="900" dirty="0">
                <a:solidFill>
                  <a:srgbClr val="F0EDE6"/>
                </a:solidFill>
              </a:rPr>
              <a:t>impossible de tenir des</a:t>
            </a:r>
            <a:endParaRPr lang="en-US" sz="900" dirty="0"/>
          </a:p>
          <a:p>
            <a:pPr marL="0" indent="0" algn="ctr">
              <a:buNone/>
            </a:pPr>
            <a:r>
              <a:rPr lang="en-US" sz="900" dirty="0">
                <a:solidFill>
                  <a:srgbClr val="F0EDE6"/>
                </a:solidFill>
              </a:rPr>
              <a:t>états fiables</a:t>
            </a:r>
            <a:endParaRPr lang="en-US" sz="900" dirty="0"/>
          </a:p>
        </p:txBody>
      </p:sp>
      <p:sp>
        <p:nvSpPr>
          <p:cNvPr id="23" name="Shape 21"/>
          <p:cNvSpPr/>
          <p:nvPr/>
        </p:nvSpPr>
        <p:spPr>
          <a:xfrm>
            <a:off x="5504688" y="2450592"/>
            <a:ext cx="54864" cy="54864"/>
          </a:xfrm>
          <a:prstGeom prst="rect">
            <a:avLst/>
          </a:prstGeom>
          <a:solidFill>
            <a:srgbClr val="C8792B"/>
          </a:solidFill>
          <a:ln w="12700">
            <a:solidFill>
              <a:srgbClr val="C8792B"/>
            </a:solidFill>
            <a:prstDash val="solid"/>
          </a:ln>
        </p:spPr>
      </p:sp>
      <p:sp>
        <p:nvSpPr>
          <p:cNvPr id="24" name="Shape 22"/>
          <p:cNvSpPr/>
          <p:nvPr/>
        </p:nvSpPr>
        <p:spPr>
          <a:xfrm>
            <a:off x="5568696" y="1188720"/>
            <a:ext cx="1545336" cy="2606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5" name="Shape 23"/>
          <p:cNvSpPr/>
          <p:nvPr/>
        </p:nvSpPr>
        <p:spPr>
          <a:xfrm>
            <a:off x="5568696" y="1188720"/>
            <a:ext cx="1545336" cy="292608"/>
          </a:xfrm>
          <a:prstGeom prst="rect">
            <a:avLst/>
          </a:prstGeom>
          <a:solidFill>
            <a:srgbClr val="C8792B"/>
          </a:solidFill>
          <a:ln w="12700">
            <a:solidFill>
              <a:srgbClr val="C8792B"/>
            </a:solidFill>
            <a:prstDash val="solid"/>
          </a:ln>
        </p:spPr>
      </p:sp>
      <p:sp>
        <p:nvSpPr>
          <p:cNvPr id="26" name="Text 24"/>
          <p:cNvSpPr/>
          <p:nvPr/>
        </p:nvSpPr>
        <p:spPr>
          <a:xfrm>
            <a:off x="5568696" y="1188720"/>
            <a:ext cx="1545336" cy="292608"/>
          </a:xfrm>
          <a:prstGeom prst="rect">
            <a:avLst/>
          </a:prstGeom>
          <a:noFill/>
          <a:ln/>
        </p:spPr>
        <p:txBody>
          <a:bodyPr wrap="square" lIns="0" tIns="0" rIns="0" bIns="0" rtlCol="0" anchor="ctr"/>
          <a:lstStyle/>
          <a:p>
            <a:pPr marL="0" indent="0" algn="ctr">
              <a:buNone/>
            </a:pPr>
            <a:r>
              <a:rPr lang="en-US" sz="900" b="1" dirty="0">
                <a:solidFill>
                  <a:srgbClr val="0C1117"/>
                </a:solidFill>
              </a:rPr>
              <a:t>P4</a:t>
            </a:r>
            <a:endParaRPr lang="en-US" sz="900" dirty="0"/>
          </a:p>
        </p:txBody>
      </p:sp>
      <p:sp>
        <p:nvSpPr>
          <p:cNvPr id="27" name="Text 25"/>
          <p:cNvSpPr/>
          <p:nvPr/>
        </p:nvSpPr>
        <p:spPr>
          <a:xfrm>
            <a:off x="5568696" y="1499616"/>
            <a:ext cx="1545336" cy="475488"/>
          </a:xfrm>
          <a:prstGeom prst="rect">
            <a:avLst/>
          </a:prstGeom>
          <a:noFill/>
          <a:ln/>
        </p:spPr>
        <p:txBody>
          <a:bodyPr wrap="square" lIns="0" tIns="50800" rIns="50800" bIns="0" rtlCol="0" anchor="ctr"/>
          <a:lstStyle/>
          <a:p>
            <a:pPr marL="0" indent="0" algn="ctr">
              <a:buNone/>
            </a:pPr>
            <a:r>
              <a:rPr lang="en-US" sz="1000" b="1" dirty="0">
                <a:solidFill>
                  <a:srgbClr val="F0EDE6"/>
                </a:solidFill>
              </a:rPr>
              <a:t>Faible</a:t>
            </a:r>
            <a:endParaRPr lang="en-US" sz="1000" dirty="0"/>
          </a:p>
          <a:p>
            <a:pPr marL="0" indent="0" algn="ctr">
              <a:buNone/>
            </a:pPr>
            <a:r>
              <a:rPr lang="en-US" sz="1000" b="1" dirty="0">
                <a:solidFill>
                  <a:srgbClr val="F0EDE6"/>
                </a:solidFill>
              </a:rPr>
              <a:t>formalisation</a:t>
            </a:r>
            <a:endParaRPr lang="en-US" sz="1000" dirty="0"/>
          </a:p>
        </p:txBody>
      </p:sp>
      <p:sp>
        <p:nvSpPr>
          <p:cNvPr id="28" name="Text 26"/>
          <p:cNvSpPr/>
          <p:nvPr/>
        </p:nvSpPr>
        <p:spPr>
          <a:xfrm>
            <a:off x="5568696" y="2011680"/>
            <a:ext cx="1545336" cy="1280160"/>
          </a:xfrm>
          <a:prstGeom prst="rect">
            <a:avLst/>
          </a:prstGeom>
          <a:noFill/>
          <a:ln/>
        </p:spPr>
        <p:txBody>
          <a:bodyPr wrap="square" lIns="0" tIns="76200" rIns="76200" bIns="0" rtlCol="0" anchor="t"/>
          <a:lstStyle/>
          <a:p>
            <a:pPr marL="0" indent="0" algn="ctr">
              <a:buNone/>
            </a:pPr>
            <a:r>
              <a:rPr lang="en-US" sz="900" dirty="0">
                <a:solidFill>
                  <a:srgbClr val="F0EDE6"/>
                </a:solidFill>
              </a:rPr>
              <a:t>Sans comptabilité, la</a:t>
            </a:r>
            <a:endParaRPr lang="en-US" sz="900" dirty="0"/>
          </a:p>
          <a:p>
            <a:pPr marL="0" indent="0" algn="ctr">
              <a:buNone/>
            </a:pPr>
            <a:r>
              <a:rPr lang="en-US" sz="900" dirty="0">
                <a:solidFill>
                  <a:srgbClr val="F0EDE6"/>
                </a:solidFill>
              </a:rPr>
              <a:t>formalisation reste bloquée</a:t>
            </a:r>
            <a:endParaRPr lang="en-US" sz="900" dirty="0"/>
          </a:p>
        </p:txBody>
      </p:sp>
      <p:sp>
        <p:nvSpPr>
          <p:cNvPr id="29" name="Shape 27"/>
          <p:cNvSpPr/>
          <p:nvPr/>
        </p:nvSpPr>
        <p:spPr>
          <a:xfrm>
            <a:off x="7123176" y="2450592"/>
            <a:ext cx="54864" cy="54864"/>
          </a:xfrm>
          <a:prstGeom prst="rect">
            <a:avLst/>
          </a:prstGeom>
          <a:solidFill>
            <a:srgbClr val="C8792B"/>
          </a:solidFill>
          <a:ln w="12700">
            <a:solidFill>
              <a:srgbClr val="C8792B"/>
            </a:solidFill>
            <a:prstDash val="solid"/>
          </a:ln>
        </p:spPr>
      </p:sp>
      <p:sp>
        <p:nvSpPr>
          <p:cNvPr id="30" name="Shape 28"/>
          <p:cNvSpPr/>
          <p:nvPr/>
        </p:nvSpPr>
        <p:spPr>
          <a:xfrm>
            <a:off x="7187184" y="1188720"/>
            <a:ext cx="1545336" cy="2606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31" name="Shape 29"/>
          <p:cNvSpPr/>
          <p:nvPr/>
        </p:nvSpPr>
        <p:spPr>
          <a:xfrm>
            <a:off x="7187184" y="1188720"/>
            <a:ext cx="1545336" cy="292608"/>
          </a:xfrm>
          <a:prstGeom prst="rect">
            <a:avLst/>
          </a:prstGeom>
          <a:solidFill>
            <a:srgbClr val="C8792B"/>
          </a:solidFill>
          <a:ln w="12700">
            <a:solidFill>
              <a:srgbClr val="C8792B"/>
            </a:solidFill>
            <a:prstDash val="solid"/>
          </a:ln>
        </p:spPr>
      </p:sp>
      <p:sp>
        <p:nvSpPr>
          <p:cNvPr id="32" name="Text 30"/>
          <p:cNvSpPr/>
          <p:nvPr/>
        </p:nvSpPr>
        <p:spPr>
          <a:xfrm>
            <a:off x="7187184" y="1188720"/>
            <a:ext cx="1545336" cy="292608"/>
          </a:xfrm>
          <a:prstGeom prst="rect">
            <a:avLst/>
          </a:prstGeom>
          <a:noFill/>
          <a:ln/>
        </p:spPr>
        <p:txBody>
          <a:bodyPr wrap="square" lIns="0" tIns="0" rIns="0" bIns="0" rtlCol="0" anchor="ctr"/>
          <a:lstStyle/>
          <a:p>
            <a:pPr marL="0" indent="0" algn="ctr">
              <a:buNone/>
            </a:pPr>
            <a:r>
              <a:rPr lang="en-US" sz="900" b="1" dirty="0">
                <a:solidFill>
                  <a:srgbClr val="0C1117"/>
                </a:solidFill>
              </a:rPr>
              <a:t>P3</a:t>
            </a:r>
            <a:endParaRPr lang="en-US" sz="900" dirty="0"/>
          </a:p>
        </p:txBody>
      </p:sp>
      <p:sp>
        <p:nvSpPr>
          <p:cNvPr id="33" name="Text 31"/>
          <p:cNvSpPr/>
          <p:nvPr/>
        </p:nvSpPr>
        <p:spPr>
          <a:xfrm>
            <a:off x="7187184" y="1499616"/>
            <a:ext cx="1545336" cy="475488"/>
          </a:xfrm>
          <a:prstGeom prst="rect">
            <a:avLst/>
          </a:prstGeom>
          <a:noFill/>
          <a:ln/>
        </p:spPr>
        <p:txBody>
          <a:bodyPr wrap="square" lIns="0" tIns="50800" rIns="50800" bIns="0" rtlCol="0" anchor="ctr"/>
          <a:lstStyle/>
          <a:p>
            <a:pPr marL="0" indent="0" algn="ctr">
              <a:buNone/>
            </a:pPr>
            <a:r>
              <a:rPr lang="en-US" sz="1000" b="1" dirty="0">
                <a:solidFill>
                  <a:srgbClr val="F0EDE6"/>
                </a:solidFill>
              </a:rPr>
              <a:t>Crédit</a:t>
            </a:r>
            <a:endParaRPr lang="en-US" sz="1000" dirty="0"/>
          </a:p>
          <a:p>
            <a:pPr marL="0" indent="0" algn="ctr">
              <a:buNone/>
            </a:pPr>
            <a:r>
              <a:rPr lang="en-US" sz="1000" b="1" dirty="0">
                <a:solidFill>
                  <a:srgbClr val="F0EDE6"/>
                </a:solidFill>
              </a:rPr>
              <a:t>inaccessible</a:t>
            </a:r>
            <a:endParaRPr lang="en-US" sz="1000" dirty="0"/>
          </a:p>
        </p:txBody>
      </p:sp>
      <p:sp>
        <p:nvSpPr>
          <p:cNvPr id="34" name="Text 32"/>
          <p:cNvSpPr/>
          <p:nvPr/>
        </p:nvSpPr>
        <p:spPr>
          <a:xfrm>
            <a:off x="7187184" y="2011680"/>
            <a:ext cx="1545336" cy="1280160"/>
          </a:xfrm>
          <a:prstGeom prst="rect">
            <a:avLst/>
          </a:prstGeom>
          <a:noFill/>
          <a:ln/>
        </p:spPr>
        <p:txBody>
          <a:bodyPr wrap="square" lIns="0" tIns="76200" rIns="76200" bIns="0" rtlCol="0" anchor="t"/>
          <a:lstStyle/>
          <a:p>
            <a:pPr marL="0" indent="0" algn="ctr">
              <a:buNone/>
            </a:pPr>
            <a:r>
              <a:rPr lang="en-US" sz="900" dirty="0">
                <a:solidFill>
                  <a:srgbClr val="F0EDE6"/>
                </a:solidFill>
              </a:rPr>
              <a:t>Sans formalisation,</a:t>
            </a:r>
            <a:endParaRPr lang="en-US" sz="900" dirty="0"/>
          </a:p>
          <a:p>
            <a:pPr marL="0" indent="0" algn="ctr">
              <a:buNone/>
            </a:pPr>
            <a:r>
              <a:rPr lang="en-US" sz="900" dirty="0">
                <a:solidFill>
                  <a:srgbClr val="F0EDE6"/>
                </a:solidFill>
              </a:rPr>
              <a:t>les banques refusent les prêts</a:t>
            </a:r>
            <a:endParaRPr lang="en-US" sz="900" dirty="0"/>
          </a:p>
        </p:txBody>
      </p:sp>
      <p:sp>
        <p:nvSpPr>
          <p:cNvPr id="35" name="Shape 33"/>
          <p:cNvSpPr/>
          <p:nvPr/>
        </p:nvSpPr>
        <p:spPr>
          <a:xfrm>
            <a:off x="411480" y="3931920"/>
            <a:ext cx="8321040" cy="438912"/>
          </a:xfrm>
          <a:prstGeom prst="rect">
            <a:avLst/>
          </a:prstGeom>
          <a:solidFill>
            <a:srgbClr val="C8792B"/>
          </a:solidFill>
          <a:ln w="12700">
            <a:solidFill>
              <a:srgbClr val="C8792B"/>
            </a:solidFill>
            <a:prstDash val="solid"/>
          </a:ln>
        </p:spPr>
      </p:sp>
      <p:sp>
        <p:nvSpPr>
          <p:cNvPr id="36" name="Text 34"/>
          <p:cNvSpPr/>
          <p:nvPr/>
        </p:nvSpPr>
        <p:spPr>
          <a:xfrm>
            <a:off x="411480" y="3931920"/>
            <a:ext cx="8321040" cy="438912"/>
          </a:xfrm>
          <a:prstGeom prst="rect">
            <a:avLst/>
          </a:prstGeom>
          <a:noFill/>
          <a:ln/>
        </p:spPr>
        <p:txBody>
          <a:bodyPr wrap="square" lIns="0" tIns="0" rIns="0" bIns="0" rtlCol="0" anchor="ctr"/>
          <a:lstStyle/>
          <a:p>
            <a:pPr marL="0" indent="0" algn="ctr">
              <a:buNone/>
            </a:pPr>
            <a:r>
              <a:rPr lang="en-US" sz="1200" b="1" dirty="0">
                <a:solidFill>
                  <a:srgbClr val="0C1117"/>
                </a:solidFill>
              </a:rPr>
              <a:t>Conséquence : exclusion financière  •  croissance ralentie  •  emplois insuffisants</a:t>
            </a:r>
            <a:endParaRPr 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02 — NOTRE VISION</a:t>
            </a:r>
            <a:endParaRPr lang="en-US" sz="900" dirty="0"/>
          </a:p>
        </p:txBody>
      </p:sp>
      <p:sp>
        <p:nvSpPr>
          <p:cNvPr id="5" name="Shape 3"/>
          <p:cNvSpPr/>
          <p:nvPr/>
        </p:nvSpPr>
        <p:spPr>
          <a:xfrm>
            <a:off x="0" y="4892040"/>
            <a:ext cx="9144000" cy="251460"/>
          </a:xfrm>
          <a:prstGeom prst="rect">
            <a:avLst/>
          </a:prstGeom>
          <a:solidFill>
            <a:srgbClr val="1A2535"/>
          </a:solidFill>
          <a:ln w="12700">
            <a:solidFill>
              <a:srgbClr val="1A2535"/>
            </a:solidFill>
            <a:prstDash val="solid"/>
          </a:ln>
        </p:spPr>
      </p:sp>
      <p:sp>
        <p:nvSpPr>
          <p:cNvPr id="6" name="Text 4"/>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7" name="Text 5"/>
          <p:cNvSpPr/>
          <p:nvPr/>
        </p:nvSpPr>
        <p:spPr>
          <a:xfrm>
            <a:off x="411480" y="868680"/>
            <a:ext cx="4389120" cy="2377440"/>
          </a:xfrm>
          <a:prstGeom prst="rect">
            <a:avLst/>
          </a:prstGeom>
          <a:noFill/>
          <a:ln/>
        </p:spPr>
        <p:txBody>
          <a:bodyPr wrap="square" lIns="0" tIns="0" rIns="0" bIns="0" rtlCol="0" anchor="t"/>
          <a:lstStyle/>
          <a:p>
            <a:pPr marL="0" indent="0" algn="l">
              <a:buNone/>
            </a:pPr>
            <a:r>
              <a:rPr lang="en-US" sz="2600" b="1" dirty="0">
                <a:solidFill>
                  <a:srgbClr val="F0EDE6"/>
                </a:solidFill>
              </a:rPr>
              <a:t>Donner à chaque</a:t>
            </a:r>
            <a:endParaRPr lang="en-US" sz="2600" dirty="0"/>
          </a:p>
          <a:p>
            <a:pPr marL="0" indent="0" algn="l">
              <a:buNone/>
            </a:pPr>
            <a:r>
              <a:rPr lang="en-US" sz="2600" b="1" dirty="0">
                <a:solidFill>
                  <a:srgbClr val="F0EDE6"/>
                </a:solidFill>
              </a:rPr>
              <a:t>entrepreneur béninois</a:t>
            </a:r>
            <a:endParaRPr lang="en-US" sz="2600" dirty="0"/>
          </a:p>
          <a:p>
            <a:pPr marL="0" indent="0" algn="l">
              <a:buNone/>
            </a:pPr>
            <a:r>
              <a:rPr lang="en-US" sz="2600" b="1" dirty="0">
                <a:solidFill>
                  <a:srgbClr val="F0EDE6"/>
                </a:solidFill>
              </a:rPr>
              <a:t>les outils pour devenir</a:t>
            </a:r>
            <a:endParaRPr lang="en-US" sz="2600" dirty="0"/>
          </a:p>
          <a:p>
            <a:pPr marL="0" indent="0" algn="l">
              <a:buNone/>
            </a:pPr>
            <a:r>
              <a:rPr lang="en-US" sz="2600" b="1" dirty="0">
                <a:solidFill>
                  <a:srgbClr val="F0EDE6"/>
                </a:solidFill>
              </a:rPr>
              <a:t>bancable.</a:t>
            </a:r>
            <a:endParaRPr lang="en-US" sz="2600" dirty="0"/>
          </a:p>
        </p:txBody>
      </p:sp>
      <p:sp>
        <p:nvSpPr>
          <p:cNvPr id="8" name="Text 6"/>
          <p:cNvSpPr/>
          <p:nvPr/>
        </p:nvSpPr>
        <p:spPr>
          <a:xfrm>
            <a:off x="411480" y="3291840"/>
            <a:ext cx="4389120" cy="457200"/>
          </a:xfrm>
          <a:prstGeom prst="rect">
            <a:avLst/>
          </a:prstGeom>
          <a:noFill/>
          <a:ln/>
        </p:spPr>
        <p:txBody>
          <a:bodyPr wrap="square" lIns="0" tIns="0" rIns="0" bIns="0" rtlCol="0" anchor="ctr"/>
          <a:lstStyle/>
          <a:p>
            <a:pPr marL="0" indent="0" algn="l">
              <a:buNone/>
            </a:pPr>
            <a:r>
              <a:rPr lang="en-US" sz="1400" i="1" dirty="0">
                <a:solidFill>
                  <a:srgbClr val="F0EDE6"/>
                </a:solidFill>
              </a:rPr>
              <a:t>Quelle que soit son éducation, son secteur ou sa région.</a:t>
            </a:r>
            <a:endParaRPr lang="en-US" sz="1400" dirty="0"/>
          </a:p>
        </p:txBody>
      </p:sp>
      <p:sp>
        <p:nvSpPr>
          <p:cNvPr id="9" name="Shape 7"/>
          <p:cNvSpPr/>
          <p:nvPr/>
        </p:nvSpPr>
        <p:spPr>
          <a:xfrm>
            <a:off x="5120640" y="804672"/>
            <a:ext cx="3611880" cy="12344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0" name="Text 8"/>
          <p:cNvSpPr/>
          <p:nvPr/>
        </p:nvSpPr>
        <p:spPr>
          <a:xfrm>
            <a:off x="5120640" y="822960"/>
            <a:ext cx="3611880" cy="777240"/>
          </a:xfrm>
          <a:prstGeom prst="rect">
            <a:avLst/>
          </a:prstGeom>
          <a:noFill/>
          <a:ln/>
        </p:spPr>
        <p:txBody>
          <a:bodyPr wrap="square" lIns="0" tIns="0" rIns="0" bIns="0" rtlCol="0" anchor="ctr"/>
          <a:lstStyle/>
          <a:p>
            <a:pPr marL="0" indent="0" algn="ctr">
              <a:buNone/>
            </a:pPr>
            <a:r>
              <a:rPr lang="en-US" sz="5200" b="1" dirty="0">
                <a:solidFill>
                  <a:srgbClr val="C8792B"/>
                </a:solidFill>
              </a:rPr>
              <a:t>90%</a:t>
            </a:r>
            <a:endParaRPr lang="en-US" sz="5200" dirty="0"/>
          </a:p>
        </p:txBody>
      </p:sp>
      <p:sp>
        <p:nvSpPr>
          <p:cNvPr id="11" name="Text 9"/>
          <p:cNvSpPr/>
          <p:nvPr/>
        </p:nvSpPr>
        <p:spPr>
          <a:xfrm>
            <a:off x="5120640" y="1627632"/>
            <a:ext cx="3611880" cy="347472"/>
          </a:xfrm>
          <a:prstGeom prst="rect">
            <a:avLst/>
          </a:prstGeom>
          <a:noFill/>
          <a:ln/>
        </p:spPr>
        <p:txBody>
          <a:bodyPr wrap="square" lIns="0" tIns="0" rIns="0" bIns="0" rtlCol="0" anchor="ctr"/>
          <a:lstStyle/>
          <a:p>
            <a:pPr marL="0" indent="0" algn="ctr">
              <a:buNone/>
            </a:pPr>
            <a:r>
              <a:rPr lang="en-US" sz="1000" dirty="0">
                <a:solidFill>
                  <a:srgbClr val="F0EDE6"/>
                </a:solidFill>
              </a:rPr>
              <a:t>des MPME béninois exclus du crédit formel</a:t>
            </a:r>
            <a:endParaRPr lang="en-US" sz="1000" dirty="0"/>
          </a:p>
        </p:txBody>
      </p:sp>
      <p:sp>
        <p:nvSpPr>
          <p:cNvPr id="12" name="Text 10"/>
          <p:cNvSpPr/>
          <p:nvPr/>
        </p:nvSpPr>
        <p:spPr>
          <a:xfrm>
            <a:off x="5120640" y="2084832"/>
            <a:ext cx="3611880" cy="320040"/>
          </a:xfrm>
          <a:prstGeom prst="rect">
            <a:avLst/>
          </a:prstGeom>
          <a:noFill/>
          <a:ln/>
        </p:spPr>
        <p:txBody>
          <a:bodyPr wrap="square" lIns="0" tIns="0" rIns="0" bIns="0" rtlCol="0" anchor="ctr"/>
          <a:lstStyle/>
          <a:p>
            <a:pPr marL="0" indent="0" algn="ctr">
              <a:buNone/>
            </a:pPr>
            <a:r>
              <a:rPr lang="en-US" sz="1100" b="1" i="1" dirty="0">
                <a:solidFill>
                  <a:srgbClr val="C8792B"/>
                </a:solidFill>
              </a:rPr>
              <a:t>MonEntreprise brise ce mur.</a:t>
            </a:r>
            <a:endParaRPr lang="en-US" sz="1100" dirty="0"/>
          </a:p>
        </p:txBody>
      </p:sp>
      <p:sp>
        <p:nvSpPr>
          <p:cNvPr id="13" name="Shape 11"/>
          <p:cNvSpPr/>
          <p:nvPr/>
        </p:nvSpPr>
        <p:spPr>
          <a:xfrm>
            <a:off x="5120640" y="2514600"/>
            <a:ext cx="1143000" cy="1463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4" name="Shape 12"/>
          <p:cNvSpPr/>
          <p:nvPr/>
        </p:nvSpPr>
        <p:spPr>
          <a:xfrm>
            <a:off x="5120640" y="2514600"/>
            <a:ext cx="1143000" cy="54864"/>
          </a:xfrm>
          <a:prstGeom prst="rect">
            <a:avLst/>
          </a:prstGeom>
          <a:solidFill>
            <a:srgbClr val="C8792B"/>
          </a:solidFill>
          <a:ln w="12700">
            <a:solidFill>
              <a:srgbClr val="C8792B"/>
            </a:solidFill>
            <a:prstDash val="solid"/>
          </a:ln>
        </p:spPr>
      </p:sp>
      <p:sp>
        <p:nvSpPr>
          <p:cNvPr id="15" name="Text 13"/>
          <p:cNvSpPr/>
          <p:nvPr/>
        </p:nvSpPr>
        <p:spPr>
          <a:xfrm>
            <a:off x="5120640" y="2578608"/>
            <a:ext cx="1143000" cy="347472"/>
          </a:xfrm>
          <a:prstGeom prst="rect">
            <a:avLst/>
          </a:prstGeom>
          <a:noFill/>
          <a:ln/>
        </p:spPr>
        <p:txBody>
          <a:bodyPr wrap="square" lIns="0" tIns="25400" rIns="25400" bIns="0" rtlCol="0" anchor="ctr"/>
          <a:lstStyle/>
          <a:p>
            <a:pPr marL="0" indent="0" algn="ctr">
              <a:buNone/>
            </a:pPr>
            <a:r>
              <a:rPr lang="en-US" sz="1000" b="1" dirty="0">
                <a:solidFill>
                  <a:srgbClr val="C8792B"/>
                </a:solidFill>
              </a:rPr>
              <a:t>Accessible</a:t>
            </a:r>
            <a:endParaRPr lang="en-US" sz="1000" dirty="0"/>
          </a:p>
        </p:txBody>
      </p:sp>
      <p:sp>
        <p:nvSpPr>
          <p:cNvPr id="16" name="Text 14"/>
          <p:cNvSpPr/>
          <p:nvPr/>
        </p:nvSpPr>
        <p:spPr>
          <a:xfrm>
            <a:off x="5120640" y="2944368"/>
            <a:ext cx="1143000" cy="914400"/>
          </a:xfrm>
          <a:prstGeom prst="rect">
            <a:avLst/>
          </a:prstGeom>
          <a:noFill/>
          <a:ln/>
        </p:spPr>
        <p:txBody>
          <a:bodyPr wrap="square" lIns="0" tIns="50800" rIns="50800" bIns="0" rtlCol="0" anchor="t"/>
          <a:lstStyle/>
          <a:p>
            <a:pPr marL="0" indent="0" algn="ctr">
              <a:buNone/>
            </a:pPr>
            <a:r>
              <a:rPr lang="en-US" sz="900" dirty="0">
                <a:solidFill>
                  <a:srgbClr val="F0EDE6"/>
                </a:solidFill>
              </a:rPr>
              <a:t>Smartphone</a:t>
            </a:r>
            <a:r>
              <a:rPr lang="en-US" sz="900" dirty="0" smtClean="0">
                <a:solidFill>
                  <a:srgbClr val="F0EDE6"/>
                </a:solidFill>
              </a:rPr>
              <a:t>, </a:t>
            </a:r>
            <a:r>
              <a:rPr lang="en-US" sz="900" dirty="0" err="1" smtClean="0">
                <a:solidFill>
                  <a:srgbClr val="F0EDE6"/>
                </a:solidFill>
              </a:rPr>
              <a:t>ordinateur</a:t>
            </a:r>
            <a:endParaRPr lang="en-US" sz="900" dirty="0"/>
          </a:p>
          <a:p>
            <a:pPr marL="0" indent="0" algn="ctr">
              <a:buNone/>
            </a:pPr>
            <a:r>
              <a:rPr lang="en-US" sz="900" dirty="0">
                <a:solidFill>
                  <a:srgbClr val="F0EDE6"/>
                </a:solidFill>
              </a:rPr>
              <a:t>3 langues locales</a:t>
            </a:r>
            <a:endParaRPr lang="en-US" sz="900" dirty="0"/>
          </a:p>
        </p:txBody>
      </p:sp>
      <p:sp>
        <p:nvSpPr>
          <p:cNvPr id="17" name="Shape 15"/>
          <p:cNvSpPr/>
          <p:nvPr/>
        </p:nvSpPr>
        <p:spPr>
          <a:xfrm>
            <a:off x="6355080" y="2514600"/>
            <a:ext cx="1143000" cy="1463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8" name="Shape 16"/>
          <p:cNvSpPr/>
          <p:nvPr/>
        </p:nvSpPr>
        <p:spPr>
          <a:xfrm>
            <a:off x="6355080" y="2514600"/>
            <a:ext cx="1143000" cy="54864"/>
          </a:xfrm>
          <a:prstGeom prst="rect">
            <a:avLst/>
          </a:prstGeom>
          <a:solidFill>
            <a:srgbClr val="C8792B"/>
          </a:solidFill>
          <a:ln w="12700">
            <a:solidFill>
              <a:srgbClr val="C8792B"/>
            </a:solidFill>
            <a:prstDash val="solid"/>
          </a:ln>
        </p:spPr>
      </p:sp>
      <p:sp>
        <p:nvSpPr>
          <p:cNvPr id="19" name="Text 17"/>
          <p:cNvSpPr/>
          <p:nvPr/>
        </p:nvSpPr>
        <p:spPr>
          <a:xfrm>
            <a:off x="6355080" y="2578608"/>
            <a:ext cx="1143000" cy="347472"/>
          </a:xfrm>
          <a:prstGeom prst="rect">
            <a:avLst/>
          </a:prstGeom>
          <a:noFill/>
          <a:ln/>
        </p:spPr>
        <p:txBody>
          <a:bodyPr wrap="square" lIns="0" tIns="25400" rIns="25400" bIns="0" rtlCol="0" anchor="ctr"/>
          <a:lstStyle/>
          <a:p>
            <a:pPr marL="0" indent="0" algn="ctr">
              <a:buNone/>
            </a:pPr>
            <a:r>
              <a:rPr lang="en-US" sz="1000" b="1" dirty="0">
                <a:solidFill>
                  <a:srgbClr val="C8792B"/>
                </a:solidFill>
              </a:rPr>
              <a:t>Bien structurée</a:t>
            </a:r>
            <a:endParaRPr lang="en-US" sz="1000" dirty="0"/>
          </a:p>
        </p:txBody>
      </p:sp>
      <p:sp>
        <p:nvSpPr>
          <p:cNvPr id="20" name="Text 18"/>
          <p:cNvSpPr/>
          <p:nvPr/>
        </p:nvSpPr>
        <p:spPr>
          <a:xfrm>
            <a:off x="6355080" y="2944368"/>
            <a:ext cx="1143000" cy="914400"/>
          </a:xfrm>
          <a:prstGeom prst="rect">
            <a:avLst/>
          </a:prstGeom>
          <a:noFill/>
          <a:ln/>
        </p:spPr>
        <p:txBody>
          <a:bodyPr wrap="square" lIns="0" tIns="50800" rIns="50800" bIns="0" rtlCol="0" anchor="t"/>
          <a:lstStyle/>
          <a:p>
            <a:pPr marL="0" indent="0" algn="ctr">
              <a:buNone/>
            </a:pPr>
            <a:r>
              <a:rPr lang="en-US" sz="900" dirty="0">
                <a:solidFill>
                  <a:srgbClr val="F0EDE6"/>
                </a:solidFill>
              </a:rPr>
              <a:t>Données fiables</a:t>
            </a:r>
            <a:endParaRPr lang="en-US" sz="900" dirty="0"/>
          </a:p>
          <a:p>
            <a:pPr marL="0" indent="0" algn="ctr">
              <a:buNone/>
            </a:pPr>
            <a:r>
              <a:rPr lang="en-US" sz="900" dirty="0">
                <a:solidFill>
                  <a:srgbClr val="F0EDE6"/>
                </a:solidFill>
              </a:rPr>
              <a:t>pour des décisions rapides</a:t>
            </a:r>
            <a:endParaRPr lang="en-US" sz="900" dirty="0"/>
          </a:p>
        </p:txBody>
      </p:sp>
      <p:sp>
        <p:nvSpPr>
          <p:cNvPr id="21" name="Shape 19"/>
          <p:cNvSpPr/>
          <p:nvPr/>
        </p:nvSpPr>
        <p:spPr>
          <a:xfrm>
            <a:off x="7589520" y="2514600"/>
            <a:ext cx="1143000" cy="1463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2" name="Shape 20"/>
          <p:cNvSpPr/>
          <p:nvPr/>
        </p:nvSpPr>
        <p:spPr>
          <a:xfrm>
            <a:off x="7589520" y="2514600"/>
            <a:ext cx="1143000" cy="54864"/>
          </a:xfrm>
          <a:prstGeom prst="rect">
            <a:avLst/>
          </a:prstGeom>
          <a:solidFill>
            <a:srgbClr val="C8792B"/>
          </a:solidFill>
          <a:ln w="12700">
            <a:solidFill>
              <a:srgbClr val="C8792B"/>
            </a:solidFill>
            <a:prstDash val="solid"/>
          </a:ln>
        </p:spPr>
      </p:sp>
      <p:sp>
        <p:nvSpPr>
          <p:cNvPr id="23" name="Text 21"/>
          <p:cNvSpPr/>
          <p:nvPr/>
        </p:nvSpPr>
        <p:spPr>
          <a:xfrm>
            <a:off x="7589520" y="2578608"/>
            <a:ext cx="1143000" cy="347472"/>
          </a:xfrm>
          <a:prstGeom prst="rect">
            <a:avLst/>
          </a:prstGeom>
          <a:noFill/>
          <a:ln/>
        </p:spPr>
        <p:txBody>
          <a:bodyPr wrap="square" lIns="0" tIns="25400" rIns="25400" bIns="0" rtlCol="0" anchor="ctr"/>
          <a:lstStyle/>
          <a:p>
            <a:pPr marL="0" indent="0" algn="ctr">
              <a:buNone/>
            </a:pPr>
            <a:r>
              <a:rPr lang="en-US" sz="1000" b="1" dirty="0">
                <a:solidFill>
                  <a:srgbClr val="C8792B"/>
                </a:solidFill>
              </a:rPr>
              <a:t>Inclusive</a:t>
            </a:r>
            <a:endParaRPr lang="en-US" sz="1000" dirty="0"/>
          </a:p>
        </p:txBody>
      </p:sp>
      <p:sp>
        <p:nvSpPr>
          <p:cNvPr id="24" name="Text 22"/>
          <p:cNvSpPr/>
          <p:nvPr/>
        </p:nvSpPr>
        <p:spPr>
          <a:xfrm>
            <a:off x="7589520" y="2944368"/>
            <a:ext cx="1143000" cy="914400"/>
          </a:xfrm>
          <a:prstGeom prst="rect">
            <a:avLst/>
          </a:prstGeom>
          <a:noFill/>
          <a:ln/>
        </p:spPr>
        <p:txBody>
          <a:bodyPr wrap="square" lIns="0" tIns="50800" rIns="50800" bIns="0" rtlCol="0" anchor="t"/>
          <a:lstStyle/>
          <a:p>
            <a:pPr marL="0" indent="0" algn="ctr">
              <a:buNone/>
            </a:pPr>
            <a:r>
              <a:rPr lang="en-US" sz="900" dirty="0">
                <a:solidFill>
                  <a:srgbClr val="F0EDE6"/>
                </a:solidFill>
              </a:rPr>
              <a:t>Tous secteurs,</a:t>
            </a:r>
            <a:endParaRPr lang="en-US" sz="900" dirty="0"/>
          </a:p>
          <a:p>
            <a:pPr marL="0" indent="0" algn="ctr">
              <a:buNone/>
            </a:pPr>
            <a:r>
              <a:rPr lang="en-US" sz="900" dirty="0">
                <a:solidFill>
                  <a:srgbClr val="F0EDE6"/>
                </a:solidFill>
              </a:rPr>
              <a:t>tous niveaux</a:t>
            </a:r>
            <a:endParaRPr lang="en-US" sz="9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03 — TÉMOIGNAGE TERRAIN</a:t>
            </a:r>
            <a:endParaRPr lang="en-US" sz="900" dirty="0"/>
          </a:p>
        </p:txBody>
      </p:sp>
      <p:sp>
        <p:nvSpPr>
          <p:cNvPr id="5" name="Text 3"/>
          <p:cNvSpPr/>
          <p:nvPr/>
        </p:nvSpPr>
        <p:spPr>
          <a:xfrm>
            <a:off x="411480" y="566928"/>
            <a:ext cx="8321040" cy="594360"/>
          </a:xfrm>
          <a:prstGeom prst="rect">
            <a:avLst/>
          </a:prstGeom>
          <a:noFill/>
          <a:ln/>
        </p:spPr>
        <p:txBody>
          <a:bodyPr wrap="square" lIns="0" tIns="0" rIns="0" bIns="0" rtlCol="0" anchor="ctr"/>
          <a:lstStyle/>
          <a:p>
            <a:pPr marL="0" indent="0" algn="l">
              <a:buNone/>
            </a:pPr>
            <a:r>
              <a:rPr lang="en-US" sz="2200" b="1" dirty="0">
                <a:solidFill>
                  <a:srgbClr val="F0EDE6"/>
                </a:solidFill>
              </a:rPr>
              <a:t>Un cas réel. Des milliers de situations identiques.</a:t>
            </a:r>
            <a:endParaRPr lang="en-US" sz="2200" dirty="0"/>
          </a:p>
        </p:txBody>
      </p:sp>
      <p:sp>
        <p:nvSpPr>
          <p:cNvPr id="6" name="Shape 4"/>
          <p:cNvSpPr/>
          <p:nvPr/>
        </p:nvSpPr>
        <p:spPr>
          <a:xfrm>
            <a:off x="0" y="4892040"/>
            <a:ext cx="9144000" cy="251460"/>
          </a:xfrm>
          <a:prstGeom prst="rect">
            <a:avLst/>
          </a:prstGeom>
          <a:solidFill>
            <a:srgbClr val="1A2535"/>
          </a:solidFill>
          <a:ln w="12700">
            <a:solidFill>
              <a:srgbClr val="1A2535"/>
            </a:solidFill>
            <a:prstDash val="solid"/>
          </a:ln>
        </p:spPr>
      </p:sp>
      <p:sp>
        <p:nvSpPr>
          <p:cNvPr id="7" name="Text 5"/>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8" name="Shape 6"/>
          <p:cNvSpPr/>
          <p:nvPr/>
        </p:nvSpPr>
        <p:spPr>
          <a:xfrm>
            <a:off x="411480" y="1325880"/>
            <a:ext cx="8321040" cy="26060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9" name="Shape 7"/>
          <p:cNvSpPr/>
          <p:nvPr/>
        </p:nvSpPr>
        <p:spPr>
          <a:xfrm>
            <a:off x="411480" y="1325880"/>
            <a:ext cx="91440" cy="2606040"/>
          </a:xfrm>
          <a:prstGeom prst="rect">
            <a:avLst/>
          </a:prstGeom>
          <a:solidFill>
            <a:srgbClr val="C8792B"/>
          </a:solidFill>
          <a:ln w="12700">
            <a:solidFill>
              <a:srgbClr val="C8792B"/>
            </a:solidFill>
            <a:prstDash val="solid"/>
          </a:ln>
        </p:spPr>
      </p:sp>
      <p:pic>
        <p:nvPicPr>
          <p:cNvPr id="10" name="Image 0" descr="preencoded.png"/>
          <p:cNvPicPr>
            <a:picLocks noChangeAspect="1"/>
          </p:cNvPicPr>
          <p:nvPr/>
        </p:nvPicPr>
        <p:blipFill>
          <a:blip r:embed="rId3"/>
          <a:stretch>
            <a:fillRect/>
          </a:stretch>
        </p:blipFill>
        <p:spPr>
          <a:xfrm>
            <a:off x="640080" y="1417320"/>
            <a:ext cx="411480" cy="411480"/>
          </a:xfrm>
          <a:prstGeom prst="rect">
            <a:avLst/>
          </a:prstGeom>
        </p:spPr>
      </p:pic>
      <p:sp>
        <p:nvSpPr>
          <p:cNvPr id="11" name="Text 8"/>
          <p:cNvSpPr/>
          <p:nvPr/>
        </p:nvSpPr>
        <p:spPr>
          <a:xfrm>
            <a:off x="1143000" y="1444752"/>
            <a:ext cx="7315200" cy="320040"/>
          </a:xfrm>
          <a:prstGeom prst="rect">
            <a:avLst/>
          </a:prstGeom>
          <a:noFill/>
          <a:ln/>
        </p:spPr>
        <p:txBody>
          <a:bodyPr wrap="square" lIns="0" tIns="0" rIns="0" bIns="0" rtlCol="0" anchor="ctr"/>
          <a:lstStyle/>
          <a:p>
            <a:pPr marL="0" indent="0">
              <a:buNone/>
            </a:pPr>
            <a:r>
              <a:rPr lang="en-US" sz="1200" b="1" dirty="0">
                <a:solidFill>
                  <a:srgbClr val="C8792B"/>
                </a:solidFill>
              </a:rPr>
              <a:t>Mon expérience personnelle</a:t>
            </a:r>
            <a:endParaRPr lang="en-US" sz="1200" dirty="0"/>
          </a:p>
        </p:txBody>
      </p:sp>
      <p:sp>
        <p:nvSpPr>
          <p:cNvPr id="12" name="Text 9"/>
          <p:cNvSpPr/>
          <p:nvPr/>
        </p:nvSpPr>
        <p:spPr>
          <a:xfrm>
            <a:off x="1143000" y="1828800"/>
            <a:ext cx="7315200" cy="1828800"/>
          </a:xfrm>
          <a:prstGeom prst="rect">
            <a:avLst/>
          </a:prstGeom>
          <a:noFill/>
          <a:ln/>
        </p:spPr>
        <p:txBody>
          <a:bodyPr wrap="square" lIns="0" tIns="0" rIns="76200" bIns="0" rtlCol="0" anchor="t"/>
          <a:lstStyle/>
          <a:p>
            <a:pPr marL="0" indent="0" algn="just">
              <a:buNone/>
            </a:pPr>
            <a:r>
              <a:rPr lang="en-US" sz="1100" dirty="0">
                <a:solidFill>
                  <a:srgbClr val="F0EDE6"/>
                </a:solidFill>
              </a:rPr>
              <a:t>Je suis entrepreneur agricole depuis plus de cinq ans. Je produis et transforme du manioc, du maïs, de la canne à sucre, de la banane. Mon activité est rentable, mes récoltes régulières, mes clients fidèles. Pourtant, cette année, je n'ai pas pu obtenir un prêt de 1 000 000 FCFA au niveau des institutions financières pour une nouvelle exploitation de deux hectares non pas parce que je suis insolvable, mais parce que je n'ai jamais formalisé mes activités ni constitué de documents financiers traçables.</a:t>
            </a:r>
            <a:endParaRPr lang="en-US" sz="1100" dirty="0"/>
          </a:p>
          <a:p>
            <a:pPr marL="0" indent="0" algn="just">
              <a:buNone/>
            </a:pPr>
            <a:r>
              <a:rPr lang="en-US" sz="1100" dirty="0">
                <a:solidFill>
                  <a:srgbClr val="F0EDE6"/>
                </a:solidFill>
              </a:rPr>
              <a:t>Ma rentabilité existe mais elle seule ne suffit pas.</a:t>
            </a:r>
            <a:endParaRPr lang="en-US" sz="1100" dirty="0"/>
          </a:p>
        </p:txBody>
      </p:sp>
      <p:sp>
        <p:nvSpPr>
          <p:cNvPr id="13" name="Shape 10"/>
          <p:cNvSpPr/>
          <p:nvPr/>
        </p:nvSpPr>
        <p:spPr>
          <a:xfrm>
            <a:off x="411480" y="4069080"/>
            <a:ext cx="8321040" cy="438912"/>
          </a:xfrm>
          <a:prstGeom prst="rect">
            <a:avLst/>
          </a:prstGeom>
          <a:solidFill>
            <a:srgbClr val="C8792B"/>
          </a:solidFill>
          <a:ln w="12700">
            <a:solidFill>
              <a:srgbClr val="C8792B"/>
            </a:solidFill>
            <a:prstDash val="solid"/>
          </a:ln>
        </p:spPr>
      </p:sp>
      <p:sp>
        <p:nvSpPr>
          <p:cNvPr id="14" name="Text 11"/>
          <p:cNvSpPr/>
          <p:nvPr/>
        </p:nvSpPr>
        <p:spPr>
          <a:xfrm>
            <a:off x="411480" y="4069080"/>
            <a:ext cx="8321040" cy="438912"/>
          </a:xfrm>
          <a:prstGeom prst="rect">
            <a:avLst/>
          </a:prstGeom>
          <a:noFill/>
          <a:ln/>
        </p:spPr>
        <p:txBody>
          <a:bodyPr wrap="square" lIns="0" tIns="0" rIns="0" bIns="0" rtlCol="0" anchor="ctr"/>
          <a:lstStyle/>
          <a:p>
            <a:pPr marL="0" indent="0" algn="ctr">
              <a:buNone/>
            </a:pPr>
            <a:r>
              <a:rPr lang="en-US" sz="1200" b="1" dirty="0">
                <a:solidFill>
                  <a:srgbClr val="0C1117"/>
                </a:solidFill>
              </a:rPr>
              <a:t>Ce n'est pas un cas isolé. C'est le quotidien de 250 000+ MPME au Bénin.</a:t>
            </a:r>
            <a:endParaRPr lang="en-US" sz="1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04 — LA SOLUTION</a:t>
            </a:r>
            <a:endParaRPr lang="en-US" sz="900" dirty="0"/>
          </a:p>
        </p:txBody>
      </p:sp>
      <p:sp>
        <p:nvSpPr>
          <p:cNvPr id="5" name="Text 3"/>
          <p:cNvSpPr/>
          <p:nvPr/>
        </p:nvSpPr>
        <p:spPr>
          <a:xfrm>
            <a:off x="411480" y="566928"/>
            <a:ext cx="8321040" cy="594360"/>
          </a:xfrm>
          <a:prstGeom prst="rect">
            <a:avLst/>
          </a:prstGeom>
          <a:noFill/>
          <a:ln/>
        </p:spPr>
        <p:txBody>
          <a:bodyPr wrap="square" lIns="0" tIns="0" rIns="0" bIns="0" rtlCol="0" anchor="ctr"/>
          <a:lstStyle/>
          <a:p>
            <a:pPr marL="0" indent="0" algn="l">
              <a:buNone/>
            </a:pPr>
            <a:r>
              <a:rPr lang="en-US" sz="2200" b="1" dirty="0">
                <a:solidFill>
                  <a:srgbClr val="F0EDE6"/>
                </a:solidFill>
              </a:rPr>
              <a:t>MonEntreprise </a:t>
            </a:r>
            <a:r>
              <a:rPr lang="en-US" sz="2200" b="1" dirty="0" smtClean="0">
                <a:solidFill>
                  <a:srgbClr val="F0EDE6"/>
                </a:solidFill>
              </a:rPr>
              <a:t>4 </a:t>
            </a:r>
            <a:r>
              <a:rPr lang="en-US" sz="2200" b="1" dirty="0">
                <a:solidFill>
                  <a:srgbClr val="F0EDE6"/>
                </a:solidFill>
              </a:rPr>
              <a:t>étapes pour devenir bancable</a:t>
            </a:r>
            <a:endParaRPr lang="en-US" sz="2200" dirty="0"/>
          </a:p>
        </p:txBody>
      </p:sp>
      <p:sp>
        <p:nvSpPr>
          <p:cNvPr id="6" name="Shape 4"/>
          <p:cNvSpPr/>
          <p:nvPr/>
        </p:nvSpPr>
        <p:spPr>
          <a:xfrm>
            <a:off x="0" y="4892040"/>
            <a:ext cx="9144000" cy="251460"/>
          </a:xfrm>
          <a:prstGeom prst="rect">
            <a:avLst/>
          </a:prstGeom>
          <a:solidFill>
            <a:srgbClr val="1A2535"/>
          </a:solidFill>
          <a:ln w="12700">
            <a:solidFill>
              <a:srgbClr val="1A2535"/>
            </a:solidFill>
            <a:prstDash val="solid"/>
          </a:ln>
        </p:spPr>
      </p:sp>
      <p:sp>
        <p:nvSpPr>
          <p:cNvPr id="7" name="Text 5"/>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8" name="Text 6"/>
          <p:cNvSpPr/>
          <p:nvPr/>
        </p:nvSpPr>
        <p:spPr>
          <a:xfrm>
            <a:off x="388620" y="1179576"/>
            <a:ext cx="8321040" cy="320040"/>
          </a:xfrm>
          <a:prstGeom prst="rect">
            <a:avLst/>
          </a:prstGeom>
          <a:noFill/>
          <a:ln/>
        </p:spPr>
        <p:txBody>
          <a:bodyPr wrap="square" lIns="0" tIns="0" rIns="0" bIns="0" rtlCol="0" anchor="ctr"/>
          <a:lstStyle/>
          <a:p>
            <a:pPr marL="0" indent="0" algn="l">
              <a:buNone/>
            </a:pPr>
            <a:r>
              <a:rPr lang="en-US" sz="1100" b="1" i="1" dirty="0" err="1" smtClean="0">
                <a:solidFill>
                  <a:srgbClr val="F0EDE6"/>
                </a:solidFill>
              </a:rPr>
              <a:t>C’est</a:t>
            </a:r>
            <a:r>
              <a:rPr lang="en-US" sz="1100" b="1" i="1" dirty="0" smtClean="0">
                <a:solidFill>
                  <a:srgbClr val="F0EDE6"/>
                </a:solidFill>
              </a:rPr>
              <a:t> </a:t>
            </a:r>
            <a:r>
              <a:rPr lang="en-US" sz="1100" b="1" i="1" dirty="0" err="1" smtClean="0">
                <a:solidFill>
                  <a:srgbClr val="F0EDE6"/>
                </a:solidFill>
              </a:rPr>
              <a:t>une</a:t>
            </a:r>
            <a:r>
              <a:rPr lang="en-US" sz="1100" b="1" i="1" dirty="0" smtClean="0">
                <a:solidFill>
                  <a:srgbClr val="F0EDE6"/>
                </a:solidFill>
              </a:rPr>
              <a:t> </a:t>
            </a:r>
            <a:r>
              <a:rPr lang="en-US" sz="1100" b="1" i="1" dirty="0" err="1" smtClean="0">
                <a:solidFill>
                  <a:srgbClr val="F0EDE6"/>
                </a:solidFill>
              </a:rPr>
              <a:t>plateforme</a:t>
            </a:r>
            <a:r>
              <a:rPr lang="en-US" sz="1100" b="1" i="1" dirty="0" smtClean="0">
                <a:solidFill>
                  <a:srgbClr val="F0EDE6"/>
                </a:solidFill>
              </a:rPr>
              <a:t> </a:t>
            </a:r>
            <a:r>
              <a:rPr lang="en-US" sz="1100" b="1" i="1" dirty="0" err="1" smtClean="0">
                <a:solidFill>
                  <a:srgbClr val="F0EDE6"/>
                </a:solidFill>
              </a:rPr>
              <a:t>numérique</a:t>
            </a:r>
            <a:r>
              <a:rPr lang="en-US" sz="1100" b="1" i="1" dirty="0" smtClean="0">
                <a:solidFill>
                  <a:srgbClr val="F0EDE6"/>
                </a:solidFill>
              </a:rPr>
              <a:t> </a:t>
            </a:r>
            <a:r>
              <a:rPr lang="en-US" sz="1100" b="1" i="1" dirty="0" err="1" smtClean="0">
                <a:solidFill>
                  <a:srgbClr val="F0EDE6"/>
                </a:solidFill>
              </a:rPr>
              <a:t>simplifiée</a:t>
            </a:r>
            <a:r>
              <a:rPr lang="en-US" sz="1100" b="1" i="1" dirty="0" smtClean="0">
                <a:solidFill>
                  <a:srgbClr val="F0EDE6"/>
                </a:solidFill>
              </a:rPr>
              <a:t> et </a:t>
            </a:r>
            <a:r>
              <a:rPr lang="en-US" sz="1100" b="1" i="1" dirty="0" smtClean="0">
                <a:solidFill>
                  <a:srgbClr val="F0EDE6"/>
                </a:solidFill>
              </a:rPr>
              <a:t> </a:t>
            </a:r>
            <a:r>
              <a:rPr lang="en-US" sz="1100" b="1" i="1" dirty="0">
                <a:solidFill>
                  <a:srgbClr val="F0EDE6"/>
                </a:solidFill>
              </a:rPr>
              <a:t>centralisé accessible </a:t>
            </a:r>
            <a:r>
              <a:rPr lang="en-US" sz="1100" b="1" i="1" dirty="0" smtClean="0">
                <a:solidFill>
                  <a:srgbClr val="F0EDE6"/>
                </a:solidFill>
              </a:rPr>
              <a:t>en langue </a:t>
            </a:r>
            <a:r>
              <a:rPr lang="en-US" sz="1100" b="1" i="1" dirty="0" err="1" smtClean="0">
                <a:solidFill>
                  <a:srgbClr val="F0EDE6"/>
                </a:solidFill>
              </a:rPr>
              <a:t>depuis</a:t>
            </a:r>
            <a:r>
              <a:rPr lang="en-US" sz="1100" b="1" i="1" dirty="0" smtClean="0">
                <a:solidFill>
                  <a:srgbClr val="F0EDE6"/>
                </a:solidFill>
              </a:rPr>
              <a:t> </a:t>
            </a:r>
            <a:r>
              <a:rPr lang="en-US" sz="1100" b="1" i="1" dirty="0">
                <a:solidFill>
                  <a:srgbClr val="F0EDE6"/>
                </a:solidFill>
              </a:rPr>
              <a:t>un smartphone et un </a:t>
            </a:r>
            <a:r>
              <a:rPr lang="en-US" sz="1100" b="1" i="1" dirty="0" err="1" smtClean="0">
                <a:solidFill>
                  <a:srgbClr val="F0EDE6"/>
                </a:solidFill>
              </a:rPr>
              <a:t>ordinateur</a:t>
            </a:r>
            <a:r>
              <a:rPr lang="en-US" sz="1100" b="1" i="1" dirty="0" smtClean="0">
                <a:solidFill>
                  <a:srgbClr val="F0EDE6"/>
                </a:solidFill>
              </a:rPr>
              <a:t> </a:t>
            </a:r>
            <a:r>
              <a:rPr lang="en-US" sz="1100" b="1" i="1" dirty="0" err="1" smtClean="0">
                <a:solidFill>
                  <a:srgbClr val="F0EDE6"/>
                </a:solidFill>
              </a:rPr>
              <a:t>permettant</a:t>
            </a:r>
            <a:r>
              <a:rPr lang="en-US" sz="1100" b="1" i="1" dirty="0" smtClean="0">
                <a:solidFill>
                  <a:srgbClr val="F0EDE6"/>
                </a:solidFill>
              </a:rPr>
              <a:t> à </a:t>
            </a:r>
            <a:r>
              <a:rPr lang="en-US" sz="1100" b="1" i="1" dirty="0" err="1" smtClean="0">
                <a:solidFill>
                  <a:srgbClr val="F0EDE6"/>
                </a:solidFill>
              </a:rPr>
              <a:t>n’importe</a:t>
            </a:r>
            <a:r>
              <a:rPr lang="en-US" sz="1100" b="1" i="1" dirty="0" smtClean="0">
                <a:solidFill>
                  <a:srgbClr val="F0EDE6"/>
                </a:solidFill>
              </a:rPr>
              <a:t> </a:t>
            </a:r>
            <a:r>
              <a:rPr lang="en-US" sz="1100" b="1" i="1" dirty="0" err="1" smtClean="0">
                <a:solidFill>
                  <a:srgbClr val="F0EDE6"/>
                </a:solidFill>
              </a:rPr>
              <a:t>quelle</a:t>
            </a:r>
            <a:r>
              <a:rPr lang="en-US" sz="1100" b="1" i="1" dirty="0" smtClean="0">
                <a:solidFill>
                  <a:srgbClr val="F0EDE6"/>
                </a:solidFill>
              </a:rPr>
              <a:t> MPME de </a:t>
            </a:r>
            <a:r>
              <a:rPr lang="en-US" sz="1100" b="1" i="1" dirty="0" err="1" smtClean="0">
                <a:solidFill>
                  <a:srgbClr val="F0EDE6"/>
                </a:solidFill>
              </a:rPr>
              <a:t>devenir</a:t>
            </a:r>
            <a:r>
              <a:rPr lang="en-US" sz="1100" b="1" i="1" dirty="0" smtClean="0">
                <a:solidFill>
                  <a:srgbClr val="F0EDE6"/>
                </a:solidFill>
              </a:rPr>
              <a:t> </a:t>
            </a:r>
            <a:r>
              <a:rPr lang="en-US" sz="1100" b="1" i="1" dirty="0" err="1" smtClean="0">
                <a:solidFill>
                  <a:srgbClr val="F0EDE6"/>
                </a:solidFill>
              </a:rPr>
              <a:t>bancable</a:t>
            </a:r>
            <a:r>
              <a:rPr lang="en-US" sz="1100" b="1" i="1" dirty="0" smtClean="0">
                <a:solidFill>
                  <a:srgbClr val="F0EDE6"/>
                </a:solidFill>
              </a:rPr>
              <a:t> en </a:t>
            </a:r>
            <a:r>
              <a:rPr lang="en-US" sz="1100" b="1" i="1" dirty="0" err="1" smtClean="0">
                <a:solidFill>
                  <a:srgbClr val="F0EDE6"/>
                </a:solidFill>
              </a:rPr>
              <a:t>quatre</a:t>
            </a:r>
            <a:r>
              <a:rPr lang="en-US" sz="1100" b="1" i="1" dirty="0" smtClean="0">
                <a:solidFill>
                  <a:srgbClr val="F0EDE6"/>
                </a:solidFill>
              </a:rPr>
              <a:t> </a:t>
            </a:r>
            <a:r>
              <a:rPr lang="en-US" sz="1100" b="1" i="1" dirty="0" err="1" smtClean="0">
                <a:solidFill>
                  <a:srgbClr val="F0EDE6"/>
                </a:solidFill>
              </a:rPr>
              <a:t>étapes</a:t>
            </a:r>
            <a:endParaRPr lang="en-US" sz="1100" b="1" dirty="0"/>
          </a:p>
        </p:txBody>
      </p:sp>
      <p:sp>
        <p:nvSpPr>
          <p:cNvPr id="9" name="Shape 7"/>
          <p:cNvSpPr/>
          <p:nvPr/>
        </p:nvSpPr>
        <p:spPr>
          <a:xfrm>
            <a:off x="411480" y="1691640"/>
            <a:ext cx="1920240" cy="22860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0" name="Shape 8"/>
          <p:cNvSpPr/>
          <p:nvPr/>
        </p:nvSpPr>
        <p:spPr>
          <a:xfrm>
            <a:off x="1097280" y="1572768"/>
            <a:ext cx="548640" cy="548640"/>
          </a:xfrm>
          <a:prstGeom prst="rect">
            <a:avLst/>
          </a:prstGeom>
          <a:solidFill>
            <a:srgbClr val="C8792B"/>
          </a:solidFill>
          <a:ln w="12700">
            <a:solidFill>
              <a:srgbClr val="C8792B"/>
            </a:solidFill>
            <a:prstDash val="solid"/>
          </a:ln>
        </p:spPr>
      </p:sp>
      <p:sp>
        <p:nvSpPr>
          <p:cNvPr id="11" name="Text 9"/>
          <p:cNvSpPr/>
          <p:nvPr/>
        </p:nvSpPr>
        <p:spPr>
          <a:xfrm>
            <a:off x="1097280" y="1572768"/>
            <a:ext cx="548640" cy="548640"/>
          </a:xfrm>
          <a:prstGeom prst="rect">
            <a:avLst/>
          </a:prstGeom>
          <a:noFill/>
          <a:ln/>
        </p:spPr>
        <p:txBody>
          <a:bodyPr wrap="square" lIns="0" tIns="0" rIns="0" bIns="0" rtlCol="0" anchor="ctr"/>
          <a:lstStyle/>
          <a:p>
            <a:pPr marL="0" indent="0" algn="ctr">
              <a:buNone/>
            </a:pPr>
            <a:r>
              <a:rPr lang="en-US" sz="1800" b="1" dirty="0">
                <a:solidFill>
                  <a:srgbClr val="0C1117"/>
                </a:solidFill>
              </a:rPr>
              <a:t>1</a:t>
            </a:r>
            <a:endParaRPr lang="en-US" sz="1800" dirty="0"/>
          </a:p>
        </p:txBody>
      </p:sp>
      <p:sp>
        <p:nvSpPr>
          <p:cNvPr id="12" name="Text 10"/>
          <p:cNvSpPr/>
          <p:nvPr/>
        </p:nvSpPr>
        <p:spPr>
          <a:xfrm>
            <a:off x="411480" y="2212848"/>
            <a:ext cx="1920240" cy="594360"/>
          </a:xfrm>
          <a:prstGeom prst="rect">
            <a:avLst/>
          </a:prstGeom>
          <a:noFill/>
          <a:ln/>
        </p:spPr>
        <p:txBody>
          <a:bodyPr wrap="square" lIns="0" tIns="0" rIns="0" bIns="0" rtlCol="0" anchor="ctr"/>
          <a:lstStyle/>
          <a:p>
            <a:pPr marL="0" indent="0" algn="ctr">
              <a:buNone/>
            </a:pPr>
            <a:r>
              <a:rPr lang="en-US" sz="1400" b="1" dirty="0">
                <a:solidFill>
                  <a:srgbClr val="F0EDE6"/>
                </a:solidFill>
              </a:rPr>
              <a:t>Étude</a:t>
            </a:r>
            <a:endParaRPr lang="en-US" sz="1400" dirty="0"/>
          </a:p>
          <a:p>
            <a:pPr marL="0" indent="0" algn="ctr">
              <a:buNone/>
            </a:pPr>
            <a:r>
              <a:rPr lang="en-US" sz="1400" b="1" dirty="0">
                <a:solidFill>
                  <a:srgbClr val="F0EDE6"/>
                </a:solidFill>
              </a:rPr>
              <a:t>de marché</a:t>
            </a:r>
            <a:endParaRPr lang="en-US" sz="1400" dirty="0"/>
          </a:p>
        </p:txBody>
      </p:sp>
      <p:sp>
        <p:nvSpPr>
          <p:cNvPr id="13" name="Text 11"/>
          <p:cNvSpPr/>
          <p:nvPr/>
        </p:nvSpPr>
        <p:spPr>
          <a:xfrm>
            <a:off x="411480" y="2834640"/>
            <a:ext cx="1920240" cy="502920"/>
          </a:xfrm>
          <a:prstGeom prst="rect">
            <a:avLst/>
          </a:prstGeom>
          <a:noFill/>
          <a:ln/>
        </p:spPr>
        <p:txBody>
          <a:bodyPr wrap="square" lIns="0" tIns="0" rIns="0" bIns="0" rtlCol="0" anchor="t"/>
          <a:lstStyle/>
          <a:p>
            <a:pPr marL="0" indent="0" algn="ctr">
              <a:buNone/>
            </a:pPr>
            <a:r>
              <a:rPr lang="en-US" sz="1000" dirty="0">
                <a:solidFill>
                  <a:srgbClr val="C8792B"/>
                </a:solidFill>
              </a:rPr>
              <a:t>BMC automatique</a:t>
            </a:r>
            <a:endParaRPr lang="en-US" sz="1000" dirty="0"/>
          </a:p>
        </p:txBody>
      </p:sp>
      <p:sp>
        <p:nvSpPr>
          <p:cNvPr id="14" name="Text 12"/>
          <p:cNvSpPr/>
          <p:nvPr/>
        </p:nvSpPr>
        <p:spPr>
          <a:xfrm>
            <a:off x="411480" y="3364992"/>
            <a:ext cx="1920240" cy="320040"/>
          </a:xfrm>
          <a:prstGeom prst="rect">
            <a:avLst/>
          </a:prstGeom>
          <a:noFill/>
          <a:ln/>
        </p:spPr>
        <p:txBody>
          <a:bodyPr wrap="square" lIns="0" tIns="50800" rIns="50800" bIns="0" rtlCol="0" anchor="ctr"/>
          <a:lstStyle/>
          <a:p>
            <a:pPr marL="0" indent="0" algn="ctr">
              <a:buNone/>
            </a:pPr>
            <a:r>
              <a:rPr lang="en-US" sz="900" i="1" dirty="0">
                <a:solidFill>
                  <a:srgbClr val="F0EDE6"/>
                </a:solidFill>
              </a:rPr>
              <a:t>(P1)</a:t>
            </a:r>
            <a:endParaRPr lang="en-US" sz="900" dirty="0"/>
          </a:p>
        </p:txBody>
      </p:sp>
      <p:sp>
        <p:nvSpPr>
          <p:cNvPr id="15" name="Shape 13"/>
          <p:cNvSpPr/>
          <p:nvPr/>
        </p:nvSpPr>
        <p:spPr>
          <a:xfrm>
            <a:off x="2350008" y="2715768"/>
            <a:ext cx="155448" cy="54864"/>
          </a:xfrm>
          <a:prstGeom prst="rect">
            <a:avLst/>
          </a:prstGeom>
          <a:solidFill>
            <a:srgbClr val="C8792B"/>
          </a:solidFill>
          <a:ln w="12700">
            <a:solidFill>
              <a:srgbClr val="C8792B"/>
            </a:solidFill>
            <a:prstDash val="solid"/>
          </a:ln>
        </p:spPr>
      </p:sp>
      <p:sp>
        <p:nvSpPr>
          <p:cNvPr id="16" name="Shape 14"/>
          <p:cNvSpPr/>
          <p:nvPr/>
        </p:nvSpPr>
        <p:spPr>
          <a:xfrm>
            <a:off x="2532888" y="1691640"/>
            <a:ext cx="1920240" cy="22860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7" name="Shape 15"/>
          <p:cNvSpPr/>
          <p:nvPr/>
        </p:nvSpPr>
        <p:spPr>
          <a:xfrm>
            <a:off x="3218688" y="1572768"/>
            <a:ext cx="548640" cy="548640"/>
          </a:xfrm>
          <a:prstGeom prst="rect">
            <a:avLst/>
          </a:prstGeom>
          <a:solidFill>
            <a:srgbClr val="C8792B"/>
          </a:solidFill>
          <a:ln w="12700">
            <a:solidFill>
              <a:srgbClr val="C8792B"/>
            </a:solidFill>
            <a:prstDash val="solid"/>
          </a:ln>
        </p:spPr>
      </p:sp>
      <p:sp>
        <p:nvSpPr>
          <p:cNvPr id="18" name="Text 16"/>
          <p:cNvSpPr/>
          <p:nvPr/>
        </p:nvSpPr>
        <p:spPr>
          <a:xfrm>
            <a:off x="3218688" y="1572768"/>
            <a:ext cx="548640" cy="548640"/>
          </a:xfrm>
          <a:prstGeom prst="rect">
            <a:avLst/>
          </a:prstGeom>
          <a:noFill/>
          <a:ln/>
        </p:spPr>
        <p:txBody>
          <a:bodyPr wrap="square" lIns="0" tIns="0" rIns="0" bIns="0" rtlCol="0" anchor="ctr"/>
          <a:lstStyle/>
          <a:p>
            <a:pPr marL="0" indent="0" algn="ctr">
              <a:buNone/>
            </a:pPr>
            <a:r>
              <a:rPr lang="en-US" sz="1800" b="1" dirty="0">
                <a:solidFill>
                  <a:srgbClr val="0C1117"/>
                </a:solidFill>
              </a:rPr>
              <a:t>2</a:t>
            </a:r>
            <a:endParaRPr lang="en-US" sz="1800" dirty="0"/>
          </a:p>
        </p:txBody>
      </p:sp>
      <p:sp>
        <p:nvSpPr>
          <p:cNvPr id="19" name="Text 17"/>
          <p:cNvSpPr/>
          <p:nvPr/>
        </p:nvSpPr>
        <p:spPr>
          <a:xfrm>
            <a:off x="2532888" y="2212848"/>
            <a:ext cx="1920240" cy="594360"/>
          </a:xfrm>
          <a:prstGeom prst="rect">
            <a:avLst/>
          </a:prstGeom>
          <a:noFill/>
          <a:ln/>
        </p:spPr>
        <p:txBody>
          <a:bodyPr wrap="square" lIns="0" tIns="0" rIns="0" bIns="0" rtlCol="0" anchor="ctr"/>
          <a:lstStyle/>
          <a:p>
            <a:pPr marL="0" indent="0" algn="ctr">
              <a:buNone/>
            </a:pPr>
            <a:r>
              <a:rPr lang="en-US" sz="1400" b="1" dirty="0">
                <a:solidFill>
                  <a:srgbClr val="F0EDE6"/>
                </a:solidFill>
              </a:rPr>
              <a:t>Analyse</a:t>
            </a:r>
            <a:endParaRPr lang="en-US" sz="1400" dirty="0"/>
          </a:p>
          <a:p>
            <a:pPr marL="0" indent="0" algn="ctr">
              <a:buNone/>
            </a:pPr>
            <a:r>
              <a:rPr lang="en-US" sz="1400" b="1" dirty="0">
                <a:solidFill>
                  <a:srgbClr val="F0EDE6"/>
                </a:solidFill>
              </a:rPr>
              <a:t>Financière</a:t>
            </a:r>
            <a:endParaRPr lang="en-US" sz="1400" dirty="0"/>
          </a:p>
        </p:txBody>
      </p:sp>
      <p:sp>
        <p:nvSpPr>
          <p:cNvPr id="20" name="Text 18"/>
          <p:cNvSpPr/>
          <p:nvPr/>
        </p:nvSpPr>
        <p:spPr>
          <a:xfrm>
            <a:off x="2532888" y="2834640"/>
            <a:ext cx="1920240" cy="502920"/>
          </a:xfrm>
          <a:prstGeom prst="rect">
            <a:avLst/>
          </a:prstGeom>
          <a:noFill/>
          <a:ln/>
        </p:spPr>
        <p:txBody>
          <a:bodyPr wrap="square" lIns="0" tIns="0" rIns="0" bIns="0" rtlCol="0" anchor="t"/>
          <a:lstStyle/>
          <a:p>
            <a:pPr marL="0" indent="0" algn="ctr">
              <a:buNone/>
            </a:pPr>
            <a:r>
              <a:rPr lang="en-US" sz="1000" dirty="0">
                <a:solidFill>
                  <a:srgbClr val="C8792B"/>
                </a:solidFill>
              </a:rPr>
              <a:t>États financiers</a:t>
            </a:r>
            <a:endParaRPr lang="en-US" sz="1000" dirty="0"/>
          </a:p>
          <a:p>
            <a:pPr marL="0" indent="0" algn="ctr">
              <a:buNone/>
            </a:pPr>
            <a:r>
              <a:rPr lang="en-US" sz="1000" dirty="0">
                <a:solidFill>
                  <a:srgbClr val="C8792B"/>
                </a:solidFill>
              </a:rPr>
              <a:t>SYSCOHADA</a:t>
            </a:r>
            <a:endParaRPr lang="en-US" sz="1000" dirty="0"/>
          </a:p>
        </p:txBody>
      </p:sp>
      <p:sp>
        <p:nvSpPr>
          <p:cNvPr id="21" name="Text 19"/>
          <p:cNvSpPr/>
          <p:nvPr/>
        </p:nvSpPr>
        <p:spPr>
          <a:xfrm>
            <a:off x="2532888" y="3364992"/>
            <a:ext cx="1920240" cy="320040"/>
          </a:xfrm>
          <a:prstGeom prst="rect">
            <a:avLst/>
          </a:prstGeom>
          <a:noFill/>
          <a:ln/>
        </p:spPr>
        <p:txBody>
          <a:bodyPr wrap="square" lIns="0" tIns="50800" rIns="50800" bIns="0" rtlCol="0" anchor="ctr"/>
          <a:lstStyle/>
          <a:p>
            <a:pPr marL="0" indent="0" algn="ctr">
              <a:buNone/>
            </a:pPr>
            <a:r>
              <a:rPr lang="en-US" sz="900" i="1" dirty="0">
                <a:solidFill>
                  <a:srgbClr val="F0EDE6"/>
                </a:solidFill>
              </a:rPr>
              <a:t>(P2)</a:t>
            </a:r>
            <a:endParaRPr lang="en-US" sz="900" dirty="0"/>
          </a:p>
        </p:txBody>
      </p:sp>
      <p:sp>
        <p:nvSpPr>
          <p:cNvPr id="22" name="Shape 20"/>
          <p:cNvSpPr/>
          <p:nvPr/>
        </p:nvSpPr>
        <p:spPr>
          <a:xfrm>
            <a:off x="4471416" y="2715768"/>
            <a:ext cx="155448" cy="54864"/>
          </a:xfrm>
          <a:prstGeom prst="rect">
            <a:avLst/>
          </a:prstGeom>
          <a:solidFill>
            <a:srgbClr val="C8792B"/>
          </a:solidFill>
          <a:ln w="12700">
            <a:solidFill>
              <a:srgbClr val="C8792B"/>
            </a:solidFill>
            <a:prstDash val="solid"/>
          </a:ln>
        </p:spPr>
      </p:sp>
      <p:sp>
        <p:nvSpPr>
          <p:cNvPr id="23" name="Shape 21"/>
          <p:cNvSpPr/>
          <p:nvPr/>
        </p:nvSpPr>
        <p:spPr>
          <a:xfrm>
            <a:off x="4654296" y="1691640"/>
            <a:ext cx="1920240" cy="22860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4" name="Shape 22"/>
          <p:cNvSpPr/>
          <p:nvPr/>
        </p:nvSpPr>
        <p:spPr>
          <a:xfrm>
            <a:off x="5340096" y="1572768"/>
            <a:ext cx="548640" cy="548640"/>
          </a:xfrm>
          <a:prstGeom prst="rect">
            <a:avLst/>
          </a:prstGeom>
          <a:solidFill>
            <a:srgbClr val="C8792B"/>
          </a:solidFill>
          <a:ln w="12700">
            <a:solidFill>
              <a:srgbClr val="C8792B"/>
            </a:solidFill>
            <a:prstDash val="solid"/>
          </a:ln>
        </p:spPr>
      </p:sp>
      <p:sp>
        <p:nvSpPr>
          <p:cNvPr id="25" name="Text 23"/>
          <p:cNvSpPr/>
          <p:nvPr/>
        </p:nvSpPr>
        <p:spPr>
          <a:xfrm>
            <a:off x="5340096" y="1572768"/>
            <a:ext cx="548640" cy="548640"/>
          </a:xfrm>
          <a:prstGeom prst="rect">
            <a:avLst/>
          </a:prstGeom>
          <a:noFill/>
          <a:ln/>
        </p:spPr>
        <p:txBody>
          <a:bodyPr wrap="square" lIns="0" tIns="0" rIns="0" bIns="0" rtlCol="0" anchor="ctr"/>
          <a:lstStyle/>
          <a:p>
            <a:pPr marL="0" indent="0" algn="ctr">
              <a:buNone/>
            </a:pPr>
            <a:r>
              <a:rPr lang="en-US" sz="1800" b="1" dirty="0">
                <a:solidFill>
                  <a:srgbClr val="0C1117"/>
                </a:solidFill>
              </a:rPr>
              <a:t>3</a:t>
            </a:r>
            <a:endParaRPr lang="en-US" sz="1800" dirty="0"/>
          </a:p>
        </p:txBody>
      </p:sp>
      <p:sp>
        <p:nvSpPr>
          <p:cNvPr id="26" name="Text 24"/>
          <p:cNvSpPr/>
          <p:nvPr/>
        </p:nvSpPr>
        <p:spPr>
          <a:xfrm>
            <a:off x="4654296" y="2212848"/>
            <a:ext cx="1920240" cy="594360"/>
          </a:xfrm>
          <a:prstGeom prst="rect">
            <a:avLst/>
          </a:prstGeom>
          <a:noFill/>
          <a:ln/>
        </p:spPr>
        <p:txBody>
          <a:bodyPr wrap="square" lIns="0" tIns="0" rIns="0" bIns="0" rtlCol="0" anchor="ctr"/>
          <a:lstStyle/>
          <a:p>
            <a:pPr marL="0" indent="0" algn="ctr">
              <a:buNone/>
            </a:pPr>
            <a:r>
              <a:rPr lang="en-US" sz="1400" b="1" dirty="0">
                <a:solidFill>
                  <a:srgbClr val="F0EDE6"/>
                </a:solidFill>
              </a:rPr>
              <a:t>Forme</a:t>
            </a:r>
            <a:endParaRPr lang="en-US" sz="1400" dirty="0"/>
          </a:p>
          <a:p>
            <a:pPr marL="0" indent="0" algn="ctr">
              <a:buNone/>
            </a:pPr>
            <a:r>
              <a:rPr lang="en-US" sz="1400" b="1" dirty="0">
                <a:solidFill>
                  <a:srgbClr val="F0EDE6"/>
                </a:solidFill>
              </a:rPr>
              <a:t>juridique</a:t>
            </a:r>
            <a:endParaRPr lang="en-US" sz="1400" dirty="0"/>
          </a:p>
        </p:txBody>
      </p:sp>
      <p:sp>
        <p:nvSpPr>
          <p:cNvPr id="27" name="Text 25"/>
          <p:cNvSpPr/>
          <p:nvPr/>
        </p:nvSpPr>
        <p:spPr>
          <a:xfrm>
            <a:off x="4654296" y="2834640"/>
            <a:ext cx="1920240" cy="502920"/>
          </a:xfrm>
          <a:prstGeom prst="rect">
            <a:avLst/>
          </a:prstGeom>
          <a:noFill/>
          <a:ln/>
        </p:spPr>
        <p:txBody>
          <a:bodyPr wrap="square" lIns="0" tIns="0" rIns="0" bIns="0" rtlCol="0" anchor="t"/>
          <a:lstStyle/>
          <a:p>
            <a:pPr marL="0" indent="0" algn="ctr">
              <a:buNone/>
            </a:pPr>
            <a:r>
              <a:rPr lang="en-US" sz="1000" dirty="0">
                <a:solidFill>
                  <a:srgbClr val="C8792B"/>
                </a:solidFill>
              </a:rPr>
              <a:t>OHADA</a:t>
            </a:r>
            <a:endParaRPr lang="en-US" sz="1000" dirty="0"/>
          </a:p>
        </p:txBody>
      </p:sp>
      <p:sp>
        <p:nvSpPr>
          <p:cNvPr id="28" name="Text 26"/>
          <p:cNvSpPr/>
          <p:nvPr/>
        </p:nvSpPr>
        <p:spPr>
          <a:xfrm>
            <a:off x="4654296" y="3364992"/>
            <a:ext cx="1920240" cy="320040"/>
          </a:xfrm>
          <a:prstGeom prst="rect">
            <a:avLst/>
          </a:prstGeom>
          <a:noFill/>
          <a:ln/>
        </p:spPr>
        <p:txBody>
          <a:bodyPr wrap="square" lIns="0" tIns="50800" rIns="50800" bIns="0" rtlCol="0" anchor="ctr"/>
          <a:lstStyle/>
          <a:p>
            <a:pPr marL="0" indent="0" algn="ctr">
              <a:buNone/>
            </a:pPr>
            <a:r>
              <a:rPr lang="en-US" sz="900" i="1" dirty="0">
                <a:solidFill>
                  <a:srgbClr val="F0EDE6"/>
                </a:solidFill>
              </a:rPr>
              <a:t>(P4)</a:t>
            </a:r>
            <a:endParaRPr lang="en-US" sz="900" dirty="0"/>
          </a:p>
        </p:txBody>
      </p:sp>
      <p:sp>
        <p:nvSpPr>
          <p:cNvPr id="29" name="Shape 27"/>
          <p:cNvSpPr/>
          <p:nvPr/>
        </p:nvSpPr>
        <p:spPr>
          <a:xfrm>
            <a:off x="6592824" y="2715768"/>
            <a:ext cx="155448" cy="54864"/>
          </a:xfrm>
          <a:prstGeom prst="rect">
            <a:avLst/>
          </a:prstGeom>
          <a:solidFill>
            <a:srgbClr val="C8792B"/>
          </a:solidFill>
          <a:ln w="12700">
            <a:solidFill>
              <a:srgbClr val="C8792B"/>
            </a:solidFill>
            <a:prstDash val="solid"/>
          </a:ln>
        </p:spPr>
      </p:sp>
      <p:sp>
        <p:nvSpPr>
          <p:cNvPr id="30" name="Shape 28"/>
          <p:cNvSpPr/>
          <p:nvPr/>
        </p:nvSpPr>
        <p:spPr>
          <a:xfrm>
            <a:off x="6775704" y="1691640"/>
            <a:ext cx="1920240" cy="22860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31" name="Shape 29"/>
          <p:cNvSpPr/>
          <p:nvPr/>
        </p:nvSpPr>
        <p:spPr>
          <a:xfrm>
            <a:off x="7461504" y="1572768"/>
            <a:ext cx="548640" cy="548640"/>
          </a:xfrm>
          <a:prstGeom prst="rect">
            <a:avLst/>
          </a:prstGeom>
          <a:solidFill>
            <a:srgbClr val="C8792B"/>
          </a:solidFill>
          <a:ln w="12700">
            <a:solidFill>
              <a:srgbClr val="C8792B"/>
            </a:solidFill>
            <a:prstDash val="solid"/>
          </a:ln>
        </p:spPr>
      </p:sp>
      <p:sp>
        <p:nvSpPr>
          <p:cNvPr id="32" name="Text 30"/>
          <p:cNvSpPr/>
          <p:nvPr/>
        </p:nvSpPr>
        <p:spPr>
          <a:xfrm>
            <a:off x="7461504" y="1572768"/>
            <a:ext cx="548640" cy="548640"/>
          </a:xfrm>
          <a:prstGeom prst="rect">
            <a:avLst/>
          </a:prstGeom>
          <a:noFill/>
          <a:ln/>
        </p:spPr>
        <p:txBody>
          <a:bodyPr wrap="square" lIns="0" tIns="0" rIns="0" bIns="0" rtlCol="0" anchor="ctr"/>
          <a:lstStyle/>
          <a:p>
            <a:pPr marL="0" indent="0" algn="ctr">
              <a:buNone/>
            </a:pPr>
            <a:r>
              <a:rPr lang="en-US" sz="1800" b="1" dirty="0">
                <a:solidFill>
                  <a:srgbClr val="0C1117"/>
                </a:solidFill>
              </a:rPr>
              <a:t>4</a:t>
            </a:r>
            <a:endParaRPr lang="en-US" sz="1800" dirty="0"/>
          </a:p>
        </p:txBody>
      </p:sp>
      <p:sp>
        <p:nvSpPr>
          <p:cNvPr id="33" name="Text 31"/>
          <p:cNvSpPr/>
          <p:nvPr/>
        </p:nvSpPr>
        <p:spPr>
          <a:xfrm>
            <a:off x="6775704" y="2212848"/>
            <a:ext cx="1920240" cy="594360"/>
          </a:xfrm>
          <a:prstGeom prst="rect">
            <a:avLst/>
          </a:prstGeom>
          <a:noFill/>
          <a:ln/>
        </p:spPr>
        <p:txBody>
          <a:bodyPr wrap="square" lIns="0" tIns="0" rIns="0" bIns="0" rtlCol="0" anchor="ctr"/>
          <a:lstStyle/>
          <a:p>
            <a:pPr marL="0" indent="0" algn="ctr">
              <a:buNone/>
            </a:pPr>
            <a:r>
              <a:rPr lang="en-US" sz="1400" b="1" dirty="0">
                <a:solidFill>
                  <a:srgbClr val="F0EDE6"/>
                </a:solidFill>
              </a:rPr>
              <a:t>Accès au</a:t>
            </a:r>
            <a:endParaRPr lang="en-US" sz="1400" dirty="0"/>
          </a:p>
          <a:p>
            <a:pPr marL="0" indent="0" algn="ctr">
              <a:buNone/>
            </a:pPr>
            <a:r>
              <a:rPr lang="en-US" sz="1400" b="1" dirty="0">
                <a:solidFill>
                  <a:srgbClr val="F0EDE6"/>
                </a:solidFill>
              </a:rPr>
              <a:t>financement</a:t>
            </a:r>
            <a:endParaRPr lang="en-US" sz="1400" dirty="0"/>
          </a:p>
        </p:txBody>
      </p:sp>
      <p:sp>
        <p:nvSpPr>
          <p:cNvPr id="34" name="Text 32"/>
          <p:cNvSpPr/>
          <p:nvPr/>
        </p:nvSpPr>
        <p:spPr>
          <a:xfrm>
            <a:off x="6775704" y="2834640"/>
            <a:ext cx="1920240" cy="502920"/>
          </a:xfrm>
          <a:prstGeom prst="rect">
            <a:avLst/>
          </a:prstGeom>
          <a:noFill/>
          <a:ln/>
        </p:spPr>
        <p:txBody>
          <a:bodyPr wrap="square" lIns="0" tIns="0" rIns="0" bIns="0" rtlCol="0" anchor="t"/>
          <a:lstStyle/>
          <a:p>
            <a:pPr marL="0" indent="0" algn="ctr">
              <a:buNone/>
            </a:pPr>
            <a:r>
              <a:rPr lang="en-US" sz="1000" dirty="0">
                <a:solidFill>
                  <a:srgbClr val="C8792B"/>
                </a:solidFill>
              </a:rPr>
              <a:t>Simulateur crédit</a:t>
            </a:r>
            <a:endParaRPr lang="en-US" sz="1000" dirty="0"/>
          </a:p>
        </p:txBody>
      </p:sp>
      <p:sp>
        <p:nvSpPr>
          <p:cNvPr id="35" name="Text 33"/>
          <p:cNvSpPr/>
          <p:nvPr/>
        </p:nvSpPr>
        <p:spPr>
          <a:xfrm>
            <a:off x="6775704" y="3364992"/>
            <a:ext cx="1920240" cy="320040"/>
          </a:xfrm>
          <a:prstGeom prst="rect">
            <a:avLst/>
          </a:prstGeom>
          <a:noFill/>
          <a:ln/>
        </p:spPr>
        <p:txBody>
          <a:bodyPr wrap="square" lIns="0" tIns="50800" rIns="50800" bIns="0" rtlCol="0" anchor="ctr"/>
          <a:lstStyle/>
          <a:p>
            <a:pPr marL="0" indent="0" algn="ctr">
              <a:buNone/>
            </a:pPr>
            <a:r>
              <a:rPr lang="en-US" sz="900" i="1" dirty="0">
                <a:solidFill>
                  <a:srgbClr val="F0EDE6"/>
                </a:solidFill>
              </a:rPr>
              <a:t>(P3)</a:t>
            </a:r>
            <a:endParaRPr lang="en-US" sz="900" dirty="0"/>
          </a:p>
        </p:txBody>
      </p:sp>
      <p:sp>
        <p:nvSpPr>
          <p:cNvPr id="36" name="Shape 34"/>
          <p:cNvSpPr/>
          <p:nvPr/>
        </p:nvSpPr>
        <p:spPr>
          <a:xfrm>
            <a:off x="411480" y="4114800"/>
            <a:ext cx="8321040" cy="59436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37" name="Shape 35"/>
          <p:cNvSpPr/>
          <p:nvPr/>
        </p:nvSpPr>
        <p:spPr>
          <a:xfrm>
            <a:off x="411480" y="4114800"/>
            <a:ext cx="91440" cy="594360"/>
          </a:xfrm>
          <a:prstGeom prst="rect">
            <a:avLst/>
          </a:prstGeom>
          <a:solidFill>
            <a:srgbClr val="C8792B"/>
          </a:solidFill>
          <a:ln w="12700">
            <a:solidFill>
              <a:srgbClr val="C8792B"/>
            </a:solidFill>
            <a:prstDash val="solid"/>
          </a:ln>
        </p:spPr>
      </p:sp>
      <p:sp>
        <p:nvSpPr>
          <p:cNvPr id="38" name="Text 36"/>
          <p:cNvSpPr/>
          <p:nvPr/>
        </p:nvSpPr>
        <p:spPr>
          <a:xfrm>
            <a:off x="594360" y="4133088"/>
            <a:ext cx="8046720" cy="557784"/>
          </a:xfrm>
          <a:prstGeom prst="rect">
            <a:avLst/>
          </a:prstGeom>
          <a:noFill/>
          <a:ln/>
        </p:spPr>
        <p:txBody>
          <a:bodyPr wrap="square" lIns="0" tIns="0" rIns="0" bIns="0" rtlCol="0" anchor="ctr"/>
          <a:lstStyle/>
          <a:p>
            <a:pPr marL="0" indent="0" algn="l">
              <a:buNone/>
            </a:pPr>
            <a:r>
              <a:rPr lang="en-US" sz="950" dirty="0">
                <a:solidFill>
                  <a:srgbClr val="F0EDE6"/>
                </a:solidFill>
              </a:rPr>
              <a:t>+ Le Passeport PME : document numérique unique regroupant étude de marché, comptabilité, documents légaux, historique de paiements, la formalisation et tout ce que les banques et IMF ont besoin de savoir pour accorder un prêt.</a:t>
            </a:r>
            <a:endParaRPr lang="en-US" sz="9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05 — PASSEPORT PME</a:t>
            </a:r>
            <a:endParaRPr lang="en-US" sz="900" dirty="0"/>
          </a:p>
        </p:txBody>
      </p:sp>
      <p:sp>
        <p:nvSpPr>
          <p:cNvPr id="5" name="Text 3"/>
          <p:cNvSpPr/>
          <p:nvPr/>
        </p:nvSpPr>
        <p:spPr>
          <a:xfrm>
            <a:off x="411480" y="560000"/>
            <a:ext cx="8321040" cy="594360"/>
          </a:xfrm>
          <a:prstGeom prst="rect">
            <a:avLst/>
          </a:prstGeom>
          <a:noFill/>
          <a:ln/>
        </p:spPr>
        <p:txBody>
          <a:bodyPr wrap="square" lIns="0" tIns="0" rIns="0" bIns="0" rtlCol="0" anchor="ctr"/>
          <a:lstStyle/>
          <a:p>
            <a:pPr marL="0" indent="0" algn="l">
              <a:buNone/>
            </a:pPr>
            <a:r>
              <a:rPr lang="en-US" sz="2200" b="1" dirty="0">
                <a:solidFill>
                  <a:srgbClr val="F0EDE6"/>
                </a:solidFill>
              </a:rPr>
              <a:t>Le Passeport PME, l'innovation qui change tout</a:t>
            </a:r>
            <a:endParaRPr lang="en-US" sz="2200" dirty="0"/>
          </a:p>
        </p:txBody>
      </p:sp>
      <p:sp>
        <p:nvSpPr>
          <p:cNvPr id="6" name="Shape 4"/>
          <p:cNvSpPr/>
          <p:nvPr/>
        </p:nvSpPr>
        <p:spPr>
          <a:xfrm>
            <a:off x="0" y="4892040"/>
            <a:ext cx="9144000" cy="251460"/>
          </a:xfrm>
          <a:prstGeom prst="rect">
            <a:avLst/>
          </a:prstGeom>
          <a:solidFill>
            <a:srgbClr val="1A2535"/>
          </a:solidFill>
          <a:ln w="12700">
            <a:solidFill>
              <a:srgbClr val="1A2535"/>
            </a:solidFill>
            <a:prstDash val="solid"/>
          </a:ln>
        </p:spPr>
      </p:sp>
      <p:sp>
        <p:nvSpPr>
          <p:cNvPr id="7" name="Text 5"/>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a:t>
            </a:r>
            <a:r>
              <a:rPr lang="en-US" sz="800" dirty="0" smtClean="0">
                <a:solidFill>
                  <a:srgbClr val="C8792B"/>
                </a:solidFill>
              </a:rPr>
              <a:t>-  </a:t>
            </a:r>
            <a:r>
              <a:rPr lang="en-US" sz="800" dirty="0">
                <a:solidFill>
                  <a:srgbClr val="C8792B"/>
                </a:solidFill>
              </a:rPr>
              <a:t>Inclusion financière des MPME au Bénin  |  2026</a:t>
            </a:r>
            <a:endParaRPr lang="en-US" sz="800" dirty="0"/>
          </a:p>
        </p:txBody>
      </p:sp>
      <p:sp>
        <p:nvSpPr>
          <p:cNvPr id="8" name="Text 6"/>
          <p:cNvSpPr/>
          <p:nvPr/>
        </p:nvSpPr>
        <p:spPr>
          <a:xfrm>
            <a:off x="411480" y="1261872"/>
            <a:ext cx="8321040" cy="274320"/>
          </a:xfrm>
          <a:prstGeom prst="rect">
            <a:avLst/>
          </a:prstGeom>
          <a:noFill/>
          <a:ln/>
        </p:spPr>
        <p:txBody>
          <a:bodyPr wrap="square" lIns="0" tIns="0" rIns="0" bIns="0" rtlCol="0" anchor="ctr"/>
          <a:lstStyle/>
          <a:p>
            <a:pPr marL="0" indent="0" algn="l">
              <a:buNone/>
            </a:pPr>
            <a:r>
              <a:rPr lang="en-US" sz="1050" i="1" dirty="0">
                <a:solidFill>
                  <a:srgbClr val="F0EDE6"/>
                </a:solidFill>
              </a:rPr>
              <a:t>Aucun outil existant au Bénin ne produit un tel document. C'est notre véritable avantage concurrentiel.</a:t>
            </a:r>
            <a:endParaRPr lang="en-US" sz="1050" dirty="0"/>
          </a:p>
        </p:txBody>
      </p:sp>
      <p:sp>
        <p:nvSpPr>
          <p:cNvPr id="9" name="Text 7"/>
          <p:cNvSpPr/>
          <p:nvPr/>
        </p:nvSpPr>
        <p:spPr>
          <a:xfrm>
            <a:off x="411480" y="1572768"/>
            <a:ext cx="2743200" cy="256032"/>
          </a:xfrm>
          <a:prstGeom prst="rect">
            <a:avLst/>
          </a:prstGeom>
          <a:noFill/>
          <a:ln/>
        </p:spPr>
        <p:txBody>
          <a:bodyPr wrap="square" lIns="0" tIns="0" rIns="0" bIns="0" rtlCol="0" anchor="ctr"/>
          <a:lstStyle/>
          <a:p>
            <a:pPr marL="0" indent="0">
              <a:buNone/>
            </a:pPr>
            <a:r>
              <a:rPr lang="en-US" b="1" dirty="0">
                <a:solidFill>
                  <a:srgbClr val="C8792B"/>
                </a:solidFill>
              </a:rPr>
              <a:t>Pourquoi c'est décisif ?</a:t>
            </a:r>
            <a:endParaRPr lang="en-US" dirty="0"/>
          </a:p>
        </p:txBody>
      </p:sp>
      <p:sp>
        <p:nvSpPr>
          <p:cNvPr id="10" name="Shape 8"/>
          <p:cNvSpPr/>
          <p:nvPr/>
        </p:nvSpPr>
        <p:spPr>
          <a:xfrm>
            <a:off x="411480" y="1920240"/>
            <a:ext cx="2926080" cy="246888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1" name="Shape 9"/>
          <p:cNvSpPr/>
          <p:nvPr/>
        </p:nvSpPr>
        <p:spPr>
          <a:xfrm>
            <a:off x="411480" y="1920240"/>
            <a:ext cx="2926080" cy="347472"/>
          </a:xfrm>
          <a:prstGeom prst="rect">
            <a:avLst/>
          </a:prstGeom>
          <a:solidFill>
            <a:srgbClr val="C8792B"/>
          </a:solidFill>
          <a:ln w="12700">
            <a:solidFill>
              <a:srgbClr val="C8792B"/>
            </a:solidFill>
            <a:prstDash val="solid"/>
          </a:ln>
        </p:spPr>
      </p:sp>
      <p:sp>
        <p:nvSpPr>
          <p:cNvPr id="12" name="Text 10"/>
          <p:cNvSpPr/>
          <p:nvPr/>
        </p:nvSpPr>
        <p:spPr>
          <a:xfrm>
            <a:off x="411480" y="1920240"/>
            <a:ext cx="2926080" cy="347472"/>
          </a:xfrm>
          <a:prstGeom prst="rect">
            <a:avLst/>
          </a:prstGeom>
          <a:noFill/>
          <a:ln/>
        </p:spPr>
        <p:txBody>
          <a:bodyPr wrap="square" lIns="0" tIns="0" rIns="0" bIns="0" rtlCol="0" anchor="ctr"/>
          <a:lstStyle/>
          <a:p>
            <a:pPr marL="0" indent="0" algn="ctr">
              <a:buNone/>
            </a:pPr>
            <a:r>
              <a:rPr lang="en-US" sz="1200" b="1" dirty="0">
                <a:solidFill>
                  <a:srgbClr val="0C1117"/>
                </a:solidFill>
              </a:rPr>
              <a:t>PASSEPORT PME</a:t>
            </a:r>
            <a:endParaRPr lang="en-US" sz="1200" dirty="0"/>
          </a:p>
        </p:txBody>
      </p:sp>
      <p:sp>
        <p:nvSpPr>
          <p:cNvPr id="13" name="Text 11"/>
          <p:cNvSpPr/>
          <p:nvPr/>
        </p:nvSpPr>
        <p:spPr>
          <a:xfrm>
            <a:off x="411480" y="2331720"/>
            <a:ext cx="2926080" cy="256032"/>
          </a:xfrm>
          <a:prstGeom prst="rect">
            <a:avLst/>
          </a:prstGeom>
          <a:noFill/>
          <a:ln/>
        </p:spPr>
        <p:txBody>
          <a:bodyPr wrap="square" lIns="0" tIns="0" rIns="0" bIns="0" rtlCol="0" anchor="ctr"/>
          <a:lstStyle/>
          <a:p>
            <a:pPr marL="0" indent="0" algn="ctr">
              <a:buNone/>
            </a:pPr>
            <a:r>
              <a:rPr lang="en-US" sz="900" dirty="0">
                <a:solidFill>
                  <a:srgbClr val="F0EDE6"/>
                </a:solidFill>
              </a:rPr>
              <a:t>MonEntreprise  |  Bénin</a:t>
            </a:r>
            <a:endParaRPr lang="en-US" sz="900" dirty="0"/>
          </a:p>
        </p:txBody>
      </p:sp>
      <p:sp>
        <p:nvSpPr>
          <p:cNvPr id="14" name="Text 12"/>
          <p:cNvSpPr/>
          <p:nvPr/>
        </p:nvSpPr>
        <p:spPr>
          <a:xfrm>
            <a:off x="548640" y="2651760"/>
            <a:ext cx="1737360" cy="274320"/>
          </a:xfrm>
          <a:prstGeom prst="rect">
            <a:avLst/>
          </a:prstGeom>
          <a:noFill/>
          <a:ln/>
        </p:spPr>
        <p:txBody>
          <a:bodyPr wrap="square" lIns="0" tIns="0" rIns="0" bIns="0" rtlCol="0" anchor="ctr"/>
          <a:lstStyle/>
          <a:p>
            <a:pPr marL="0" indent="0" algn="l">
              <a:buNone/>
            </a:pPr>
            <a:r>
              <a:rPr lang="en-US" sz="900" dirty="0">
                <a:solidFill>
                  <a:srgbClr val="F0EDE6"/>
                </a:solidFill>
              </a:rPr>
              <a:t>Étude de marché</a:t>
            </a:r>
            <a:endParaRPr lang="en-US" sz="900" dirty="0"/>
          </a:p>
        </p:txBody>
      </p:sp>
      <p:sp>
        <p:nvSpPr>
          <p:cNvPr id="15" name="Text 13"/>
          <p:cNvSpPr/>
          <p:nvPr/>
        </p:nvSpPr>
        <p:spPr>
          <a:xfrm>
            <a:off x="2377440" y="2651760"/>
            <a:ext cx="822960" cy="274320"/>
          </a:xfrm>
          <a:prstGeom prst="rect">
            <a:avLst/>
          </a:prstGeom>
          <a:noFill/>
          <a:ln/>
        </p:spPr>
        <p:txBody>
          <a:bodyPr wrap="square" lIns="0" tIns="0" rIns="0" bIns="0" rtlCol="0" anchor="ctr"/>
          <a:lstStyle/>
          <a:p>
            <a:pPr marL="0" indent="0" algn="r">
              <a:buNone/>
            </a:pPr>
            <a:r>
              <a:rPr lang="en-US" sz="1000" b="1" dirty="0">
                <a:solidFill>
                  <a:srgbClr val="C8792B"/>
                </a:solidFill>
              </a:rPr>
              <a:t>95%</a:t>
            </a:r>
            <a:endParaRPr lang="en-US" sz="1000" dirty="0"/>
          </a:p>
        </p:txBody>
      </p:sp>
      <p:sp>
        <p:nvSpPr>
          <p:cNvPr id="16" name="Text 14"/>
          <p:cNvSpPr/>
          <p:nvPr/>
        </p:nvSpPr>
        <p:spPr>
          <a:xfrm>
            <a:off x="548640" y="2980944"/>
            <a:ext cx="1737360" cy="274320"/>
          </a:xfrm>
          <a:prstGeom prst="rect">
            <a:avLst/>
          </a:prstGeom>
          <a:noFill/>
          <a:ln/>
        </p:spPr>
        <p:txBody>
          <a:bodyPr wrap="square" lIns="0" tIns="0" rIns="0" bIns="0" rtlCol="0" anchor="ctr"/>
          <a:lstStyle/>
          <a:p>
            <a:pPr marL="0" indent="0" algn="l">
              <a:buNone/>
            </a:pPr>
            <a:r>
              <a:rPr lang="en-US" sz="900" dirty="0">
                <a:solidFill>
                  <a:srgbClr val="F0EDE6"/>
                </a:solidFill>
              </a:rPr>
              <a:t>États financiers</a:t>
            </a:r>
            <a:endParaRPr lang="en-US" sz="900" dirty="0"/>
          </a:p>
        </p:txBody>
      </p:sp>
      <p:sp>
        <p:nvSpPr>
          <p:cNvPr id="17" name="Text 15"/>
          <p:cNvSpPr/>
          <p:nvPr/>
        </p:nvSpPr>
        <p:spPr>
          <a:xfrm>
            <a:off x="2377440" y="2980944"/>
            <a:ext cx="822960" cy="274320"/>
          </a:xfrm>
          <a:prstGeom prst="rect">
            <a:avLst/>
          </a:prstGeom>
          <a:noFill/>
          <a:ln/>
        </p:spPr>
        <p:txBody>
          <a:bodyPr wrap="square" lIns="0" tIns="0" rIns="0" bIns="0" rtlCol="0" anchor="ctr"/>
          <a:lstStyle/>
          <a:p>
            <a:pPr marL="0" indent="0" algn="r">
              <a:buNone/>
            </a:pPr>
            <a:r>
              <a:rPr lang="en-US" sz="1000" b="1" dirty="0">
                <a:solidFill>
                  <a:srgbClr val="C8792B"/>
                </a:solidFill>
              </a:rPr>
              <a:t>88%</a:t>
            </a:r>
            <a:endParaRPr lang="en-US" sz="1000" dirty="0"/>
          </a:p>
        </p:txBody>
      </p:sp>
      <p:sp>
        <p:nvSpPr>
          <p:cNvPr id="18" name="Text 16"/>
          <p:cNvSpPr/>
          <p:nvPr/>
        </p:nvSpPr>
        <p:spPr>
          <a:xfrm>
            <a:off x="548640" y="3310128"/>
            <a:ext cx="1737360" cy="274320"/>
          </a:xfrm>
          <a:prstGeom prst="rect">
            <a:avLst/>
          </a:prstGeom>
          <a:noFill/>
          <a:ln/>
        </p:spPr>
        <p:txBody>
          <a:bodyPr wrap="square" lIns="0" tIns="0" rIns="0" bIns="0" rtlCol="0" anchor="ctr"/>
          <a:lstStyle/>
          <a:p>
            <a:pPr marL="0" indent="0" algn="l">
              <a:buNone/>
            </a:pPr>
            <a:r>
              <a:rPr lang="en-US" sz="900" dirty="0">
                <a:solidFill>
                  <a:srgbClr val="F0EDE6"/>
                </a:solidFill>
              </a:rPr>
              <a:t>Documents légaux</a:t>
            </a:r>
            <a:endParaRPr lang="en-US" sz="900" dirty="0"/>
          </a:p>
        </p:txBody>
      </p:sp>
      <p:sp>
        <p:nvSpPr>
          <p:cNvPr id="19" name="Text 17"/>
          <p:cNvSpPr/>
          <p:nvPr/>
        </p:nvSpPr>
        <p:spPr>
          <a:xfrm>
            <a:off x="2377440" y="3310128"/>
            <a:ext cx="822960" cy="274320"/>
          </a:xfrm>
          <a:prstGeom prst="rect">
            <a:avLst/>
          </a:prstGeom>
          <a:noFill/>
          <a:ln/>
        </p:spPr>
        <p:txBody>
          <a:bodyPr wrap="square" lIns="0" tIns="0" rIns="0" bIns="0" rtlCol="0" anchor="ctr"/>
          <a:lstStyle/>
          <a:p>
            <a:pPr marL="0" indent="0" algn="r">
              <a:buNone/>
            </a:pPr>
            <a:r>
              <a:rPr lang="en-US" sz="1000" b="1" dirty="0">
                <a:solidFill>
                  <a:srgbClr val="C8792B"/>
                </a:solidFill>
              </a:rPr>
              <a:t>92%</a:t>
            </a:r>
            <a:endParaRPr lang="en-US" sz="1000" dirty="0"/>
          </a:p>
        </p:txBody>
      </p:sp>
      <p:sp>
        <p:nvSpPr>
          <p:cNvPr id="20" name="Text 18"/>
          <p:cNvSpPr/>
          <p:nvPr/>
        </p:nvSpPr>
        <p:spPr>
          <a:xfrm>
            <a:off x="548640" y="3639312"/>
            <a:ext cx="1737360" cy="274320"/>
          </a:xfrm>
          <a:prstGeom prst="rect">
            <a:avLst/>
          </a:prstGeom>
          <a:noFill/>
          <a:ln/>
        </p:spPr>
        <p:txBody>
          <a:bodyPr wrap="square" lIns="0" tIns="0" rIns="0" bIns="0" rtlCol="0" anchor="ctr"/>
          <a:lstStyle/>
          <a:p>
            <a:pPr marL="0" indent="0" algn="l">
              <a:buNone/>
            </a:pPr>
            <a:r>
              <a:rPr lang="en-US" sz="900" dirty="0">
                <a:solidFill>
                  <a:srgbClr val="F0EDE6"/>
                </a:solidFill>
              </a:rPr>
              <a:t>Historique paiements</a:t>
            </a:r>
            <a:endParaRPr lang="en-US" sz="900" dirty="0"/>
          </a:p>
        </p:txBody>
      </p:sp>
      <p:sp>
        <p:nvSpPr>
          <p:cNvPr id="21" name="Text 19"/>
          <p:cNvSpPr/>
          <p:nvPr/>
        </p:nvSpPr>
        <p:spPr>
          <a:xfrm>
            <a:off x="2377440" y="3639312"/>
            <a:ext cx="822960" cy="274320"/>
          </a:xfrm>
          <a:prstGeom prst="rect">
            <a:avLst/>
          </a:prstGeom>
          <a:noFill/>
          <a:ln/>
        </p:spPr>
        <p:txBody>
          <a:bodyPr wrap="square" lIns="0" tIns="0" rIns="0" bIns="0" rtlCol="0" anchor="ctr"/>
          <a:lstStyle/>
          <a:p>
            <a:pPr marL="0" indent="0" algn="r">
              <a:buNone/>
            </a:pPr>
            <a:r>
              <a:rPr lang="en-US" sz="1000" b="1" dirty="0">
                <a:solidFill>
                  <a:srgbClr val="C8792B"/>
                </a:solidFill>
              </a:rPr>
              <a:t>80%</a:t>
            </a:r>
            <a:endParaRPr lang="en-US" sz="1000" dirty="0"/>
          </a:p>
        </p:txBody>
      </p:sp>
      <p:sp>
        <p:nvSpPr>
          <p:cNvPr id="22" name="Text 20"/>
          <p:cNvSpPr/>
          <p:nvPr/>
        </p:nvSpPr>
        <p:spPr>
          <a:xfrm>
            <a:off x="548640" y="3968496"/>
            <a:ext cx="1737360" cy="274320"/>
          </a:xfrm>
          <a:prstGeom prst="rect">
            <a:avLst/>
          </a:prstGeom>
          <a:noFill/>
          <a:ln/>
        </p:spPr>
        <p:txBody>
          <a:bodyPr wrap="square" lIns="0" tIns="0" rIns="0" bIns="0" rtlCol="0" anchor="ctr"/>
          <a:lstStyle/>
          <a:p>
            <a:pPr marL="0" indent="0" algn="l">
              <a:buNone/>
            </a:pPr>
            <a:r>
              <a:rPr lang="en-US" sz="900" dirty="0">
                <a:solidFill>
                  <a:srgbClr val="F0EDE6"/>
                </a:solidFill>
              </a:rPr>
              <a:t>Formalisation</a:t>
            </a:r>
            <a:endParaRPr lang="en-US" sz="900" dirty="0"/>
          </a:p>
        </p:txBody>
      </p:sp>
      <p:sp>
        <p:nvSpPr>
          <p:cNvPr id="23" name="Text 21"/>
          <p:cNvSpPr/>
          <p:nvPr/>
        </p:nvSpPr>
        <p:spPr>
          <a:xfrm>
            <a:off x="2377440" y="3968496"/>
            <a:ext cx="822960" cy="274320"/>
          </a:xfrm>
          <a:prstGeom prst="rect">
            <a:avLst/>
          </a:prstGeom>
          <a:noFill/>
          <a:ln/>
        </p:spPr>
        <p:txBody>
          <a:bodyPr wrap="square" lIns="0" tIns="0" rIns="0" bIns="0" rtlCol="0" anchor="ctr"/>
          <a:lstStyle/>
          <a:p>
            <a:pPr marL="0" indent="0" algn="r">
              <a:buNone/>
            </a:pPr>
            <a:r>
              <a:rPr lang="en-US" sz="1000" b="1" dirty="0">
                <a:solidFill>
                  <a:srgbClr val="C8792B"/>
                </a:solidFill>
              </a:rPr>
              <a:t>97%</a:t>
            </a:r>
            <a:endParaRPr lang="en-US" sz="1000" dirty="0"/>
          </a:p>
        </p:txBody>
      </p:sp>
      <p:sp>
        <p:nvSpPr>
          <p:cNvPr id="24" name="Shape 22"/>
          <p:cNvSpPr/>
          <p:nvPr/>
        </p:nvSpPr>
        <p:spPr>
          <a:xfrm>
            <a:off x="3520440" y="1920240"/>
            <a:ext cx="5212080" cy="420624"/>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5" name="Shape 23"/>
          <p:cNvSpPr/>
          <p:nvPr/>
        </p:nvSpPr>
        <p:spPr>
          <a:xfrm>
            <a:off x="3520440" y="1920240"/>
            <a:ext cx="73152" cy="420624"/>
          </a:xfrm>
          <a:prstGeom prst="rect">
            <a:avLst/>
          </a:prstGeom>
          <a:solidFill>
            <a:srgbClr val="C8792B"/>
          </a:solidFill>
          <a:ln w="12700">
            <a:solidFill>
              <a:srgbClr val="C8792B"/>
            </a:solidFill>
            <a:prstDash val="solid"/>
          </a:ln>
        </p:spPr>
      </p:sp>
      <p:pic>
        <p:nvPicPr>
          <p:cNvPr id="26" name="Image 0" descr="preencoded.png"/>
          <p:cNvPicPr>
            <a:picLocks noChangeAspect="1"/>
          </p:cNvPicPr>
          <p:nvPr/>
        </p:nvPicPr>
        <p:blipFill>
          <a:blip r:embed="rId3"/>
          <a:stretch>
            <a:fillRect/>
          </a:stretch>
        </p:blipFill>
        <p:spPr>
          <a:xfrm>
            <a:off x="3703320" y="1956816"/>
            <a:ext cx="228600" cy="228600"/>
          </a:xfrm>
          <a:prstGeom prst="rect">
            <a:avLst/>
          </a:prstGeom>
        </p:spPr>
      </p:pic>
      <p:sp>
        <p:nvSpPr>
          <p:cNvPr id="27" name="Text 24"/>
          <p:cNvSpPr/>
          <p:nvPr/>
        </p:nvSpPr>
        <p:spPr>
          <a:xfrm>
            <a:off x="4005072" y="1920240"/>
            <a:ext cx="4617720" cy="420624"/>
          </a:xfrm>
          <a:prstGeom prst="rect">
            <a:avLst/>
          </a:prstGeom>
          <a:noFill/>
          <a:ln/>
        </p:spPr>
        <p:txBody>
          <a:bodyPr wrap="square" lIns="0" tIns="0" rIns="76200" bIns="0" rtlCol="0" anchor="ctr"/>
          <a:lstStyle/>
          <a:p>
            <a:pPr marL="0" indent="0" algn="l">
              <a:buNone/>
            </a:pPr>
            <a:r>
              <a:rPr lang="en-US" sz="1050" dirty="0">
                <a:solidFill>
                  <a:srgbClr val="F0EDE6"/>
                </a:solidFill>
              </a:rPr>
              <a:t>Construit progressivement via les 4 étapes</a:t>
            </a:r>
            <a:endParaRPr lang="en-US" sz="1050" dirty="0"/>
          </a:p>
        </p:txBody>
      </p:sp>
      <p:sp>
        <p:nvSpPr>
          <p:cNvPr id="28" name="Shape 25"/>
          <p:cNvSpPr/>
          <p:nvPr/>
        </p:nvSpPr>
        <p:spPr>
          <a:xfrm>
            <a:off x="3520440" y="2404872"/>
            <a:ext cx="5212080" cy="420624"/>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9" name="Shape 26"/>
          <p:cNvSpPr/>
          <p:nvPr/>
        </p:nvSpPr>
        <p:spPr>
          <a:xfrm>
            <a:off x="3520440" y="2404872"/>
            <a:ext cx="73152" cy="420624"/>
          </a:xfrm>
          <a:prstGeom prst="rect">
            <a:avLst/>
          </a:prstGeom>
          <a:solidFill>
            <a:srgbClr val="C8792B"/>
          </a:solidFill>
          <a:ln w="12700">
            <a:solidFill>
              <a:srgbClr val="C8792B"/>
            </a:solidFill>
            <a:prstDash val="solid"/>
          </a:ln>
        </p:spPr>
      </p:sp>
      <p:pic>
        <p:nvPicPr>
          <p:cNvPr id="30" name="Image 1" descr="preencoded.png"/>
          <p:cNvPicPr>
            <a:picLocks noChangeAspect="1"/>
          </p:cNvPicPr>
          <p:nvPr/>
        </p:nvPicPr>
        <p:blipFill>
          <a:blip r:embed="rId3"/>
          <a:stretch>
            <a:fillRect/>
          </a:stretch>
        </p:blipFill>
        <p:spPr>
          <a:xfrm>
            <a:off x="3703320" y="2441448"/>
            <a:ext cx="228600" cy="228600"/>
          </a:xfrm>
          <a:prstGeom prst="rect">
            <a:avLst/>
          </a:prstGeom>
        </p:spPr>
      </p:pic>
      <p:sp>
        <p:nvSpPr>
          <p:cNvPr id="31" name="Text 27"/>
          <p:cNvSpPr/>
          <p:nvPr/>
        </p:nvSpPr>
        <p:spPr>
          <a:xfrm>
            <a:off x="4005072" y="2404872"/>
            <a:ext cx="4617720" cy="420624"/>
          </a:xfrm>
          <a:prstGeom prst="rect">
            <a:avLst/>
          </a:prstGeom>
          <a:noFill/>
          <a:ln/>
        </p:spPr>
        <p:txBody>
          <a:bodyPr wrap="square" lIns="0" tIns="0" rIns="76200" bIns="0" rtlCol="0" anchor="ctr"/>
          <a:lstStyle/>
          <a:p>
            <a:pPr marL="0" indent="0" algn="l">
              <a:buNone/>
            </a:pPr>
            <a:r>
              <a:rPr lang="en-US" sz="1050" dirty="0">
                <a:solidFill>
                  <a:srgbClr val="F0EDE6"/>
                </a:solidFill>
              </a:rPr>
              <a:t>Score algorithmique par section</a:t>
            </a:r>
            <a:endParaRPr lang="en-US" sz="1050" dirty="0"/>
          </a:p>
        </p:txBody>
      </p:sp>
      <p:sp>
        <p:nvSpPr>
          <p:cNvPr id="32" name="Shape 28"/>
          <p:cNvSpPr/>
          <p:nvPr/>
        </p:nvSpPr>
        <p:spPr>
          <a:xfrm>
            <a:off x="3520440" y="2889504"/>
            <a:ext cx="5212080" cy="420624"/>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33" name="Shape 29"/>
          <p:cNvSpPr/>
          <p:nvPr/>
        </p:nvSpPr>
        <p:spPr>
          <a:xfrm>
            <a:off x="3520440" y="2889504"/>
            <a:ext cx="73152" cy="420624"/>
          </a:xfrm>
          <a:prstGeom prst="rect">
            <a:avLst/>
          </a:prstGeom>
          <a:solidFill>
            <a:srgbClr val="C8792B"/>
          </a:solidFill>
          <a:ln w="12700">
            <a:solidFill>
              <a:srgbClr val="C8792B"/>
            </a:solidFill>
            <a:prstDash val="solid"/>
          </a:ln>
        </p:spPr>
      </p:sp>
      <p:pic>
        <p:nvPicPr>
          <p:cNvPr id="34" name="Image 2" descr="preencoded.png"/>
          <p:cNvPicPr>
            <a:picLocks noChangeAspect="1"/>
          </p:cNvPicPr>
          <p:nvPr/>
        </p:nvPicPr>
        <p:blipFill>
          <a:blip r:embed="rId3"/>
          <a:stretch>
            <a:fillRect/>
          </a:stretch>
        </p:blipFill>
        <p:spPr>
          <a:xfrm>
            <a:off x="3703320" y="2926080"/>
            <a:ext cx="228600" cy="228600"/>
          </a:xfrm>
          <a:prstGeom prst="rect">
            <a:avLst/>
          </a:prstGeom>
        </p:spPr>
      </p:pic>
      <p:sp>
        <p:nvSpPr>
          <p:cNvPr id="35" name="Text 30"/>
          <p:cNvSpPr/>
          <p:nvPr/>
        </p:nvSpPr>
        <p:spPr>
          <a:xfrm>
            <a:off x="4005072" y="2889504"/>
            <a:ext cx="4617720" cy="420624"/>
          </a:xfrm>
          <a:prstGeom prst="rect">
            <a:avLst/>
          </a:prstGeom>
          <a:noFill/>
          <a:ln/>
        </p:spPr>
        <p:txBody>
          <a:bodyPr wrap="square" lIns="0" tIns="0" rIns="76200" bIns="0" rtlCol="0" anchor="ctr"/>
          <a:lstStyle/>
          <a:p>
            <a:pPr marL="0" indent="0" algn="l">
              <a:buNone/>
            </a:pPr>
            <a:r>
              <a:rPr lang="en-US" sz="1050" dirty="0">
                <a:solidFill>
                  <a:srgbClr val="F0EDE6"/>
                </a:solidFill>
              </a:rPr>
              <a:t>Sécurisé, vérifiable, exportable en PDF</a:t>
            </a:r>
            <a:endParaRPr lang="en-US" sz="1050" dirty="0"/>
          </a:p>
        </p:txBody>
      </p:sp>
      <p:sp>
        <p:nvSpPr>
          <p:cNvPr id="36" name="Shape 31"/>
          <p:cNvSpPr/>
          <p:nvPr/>
        </p:nvSpPr>
        <p:spPr>
          <a:xfrm>
            <a:off x="3520440" y="3374136"/>
            <a:ext cx="5212080" cy="420624"/>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37" name="Shape 32"/>
          <p:cNvSpPr/>
          <p:nvPr/>
        </p:nvSpPr>
        <p:spPr>
          <a:xfrm>
            <a:off x="3520440" y="3374136"/>
            <a:ext cx="73152" cy="420624"/>
          </a:xfrm>
          <a:prstGeom prst="rect">
            <a:avLst/>
          </a:prstGeom>
          <a:solidFill>
            <a:srgbClr val="C8792B"/>
          </a:solidFill>
          <a:ln w="12700">
            <a:solidFill>
              <a:srgbClr val="C8792B"/>
            </a:solidFill>
            <a:prstDash val="solid"/>
          </a:ln>
        </p:spPr>
      </p:sp>
      <p:pic>
        <p:nvPicPr>
          <p:cNvPr id="38" name="Image 3" descr="preencoded.png"/>
          <p:cNvPicPr>
            <a:picLocks noChangeAspect="1"/>
          </p:cNvPicPr>
          <p:nvPr/>
        </p:nvPicPr>
        <p:blipFill>
          <a:blip r:embed="rId3"/>
          <a:stretch>
            <a:fillRect/>
          </a:stretch>
        </p:blipFill>
        <p:spPr>
          <a:xfrm>
            <a:off x="3703320" y="3410712"/>
            <a:ext cx="228600" cy="228600"/>
          </a:xfrm>
          <a:prstGeom prst="rect">
            <a:avLst/>
          </a:prstGeom>
        </p:spPr>
      </p:pic>
      <p:sp>
        <p:nvSpPr>
          <p:cNvPr id="39" name="Text 33"/>
          <p:cNvSpPr/>
          <p:nvPr/>
        </p:nvSpPr>
        <p:spPr>
          <a:xfrm>
            <a:off x="4005072" y="3374136"/>
            <a:ext cx="4617720" cy="420624"/>
          </a:xfrm>
          <a:prstGeom prst="rect">
            <a:avLst/>
          </a:prstGeom>
          <a:noFill/>
          <a:ln/>
        </p:spPr>
        <p:txBody>
          <a:bodyPr wrap="square" lIns="0" tIns="0" rIns="76200" bIns="0" rtlCol="0" anchor="ctr"/>
          <a:lstStyle/>
          <a:p>
            <a:pPr marL="0" indent="0" algn="l">
              <a:buNone/>
            </a:pPr>
            <a:r>
              <a:rPr lang="en-US" sz="1050" dirty="0">
                <a:solidFill>
                  <a:srgbClr val="F0EDE6"/>
                </a:solidFill>
              </a:rPr>
              <a:t>Réduit l'asymétrie d'information entre MPME / banques / SFD</a:t>
            </a:r>
            <a:endParaRPr lang="en-US" sz="1050" dirty="0"/>
          </a:p>
        </p:txBody>
      </p:sp>
      <p:sp>
        <p:nvSpPr>
          <p:cNvPr id="40" name="Shape 34"/>
          <p:cNvSpPr/>
          <p:nvPr/>
        </p:nvSpPr>
        <p:spPr>
          <a:xfrm>
            <a:off x="3520440" y="3858768"/>
            <a:ext cx="5212080" cy="420624"/>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41" name="Shape 35"/>
          <p:cNvSpPr/>
          <p:nvPr/>
        </p:nvSpPr>
        <p:spPr>
          <a:xfrm>
            <a:off x="3520440" y="3858768"/>
            <a:ext cx="73152" cy="420624"/>
          </a:xfrm>
          <a:prstGeom prst="rect">
            <a:avLst/>
          </a:prstGeom>
          <a:solidFill>
            <a:srgbClr val="C8792B"/>
          </a:solidFill>
          <a:ln w="12700">
            <a:solidFill>
              <a:srgbClr val="C8792B"/>
            </a:solidFill>
            <a:prstDash val="solid"/>
          </a:ln>
        </p:spPr>
      </p:sp>
      <p:pic>
        <p:nvPicPr>
          <p:cNvPr id="42" name="Image 4" descr="preencoded.png"/>
          <p:cNvPicPr>
            <a:picLocks noChangeAspect="1"/>
          </p:cNvPicPr>
          <p:nvPr/>
        </p:nvPicPr>
        <p:blipFill>
          <a:blip r:embed="rId3"/>
          <a:stretch>
            <a:fillRect/>
          </a:stretch>
        </p:blipFill>
        <p:spPr>
          <a:xfrm>
            <a:off x="3703320" y="3895344"/>
            <a:ext cx="228600" cy="228600"/>
          </a:xfrm>
          <a:prstGeom prst="rect">
            <a:avLst/>
          </a:prstGeom>
        </p:spPr>
      </p:pic>
      <p:sp>
        <p:nvSpPr>
          <p:cNvPr id="43" name="Text 36"/>
          <p:cNvSpPr/>
          <p:nvPr/>
        </p:nvSpPr>
        <p:spPr>
          <a:xfrm>
            <a:off x="4005072" y="3858768"/>
            <a:ext cx="4617720" cy="420624"/>
          </a:xfrm>
          <a:prstGeom prst="rect">
            <a:avLst/>
          </a:prstGeom>
          <a:noFill/>
          <a:ln/>
        </p:spPr>
        <p:txBody>
          <a:bodyPr wrap="square" lIns="0" tIns="0" rIns="76200" bIns="0" rtlCol="0" anchor="ctr"/>
          <a:lstStyle/>
          <a:p>
            <a:pPr marL="0" indent="0" algn="l">
              <a:buNone/>
            </a:pPr>
            <a:r>
              <a:rPr lang="en-US" sz="1050" dirty="0">
                <a:solidFill>
                  <a:srgbClr val="F0EDE6"/>
                </a:solidFill>
              </a:rPr>
              <a:t>Partage direct aux institutions partenaires</a:t>
            </a:r>
            <a:endParaRPr lang="en-US" sz="10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06 — FAISABILITÉ TECHNIQUE</a:t>
            </a:r>
            <a:endParaRPr lang="en-US" sz="900" dirty="0"/>
          </a:p>
        </p:txBody>
      </p:sp>
      <p:sp>
        <p:nvSpPr>
          <p:cNvPr id="5" name="Text 3"/>
          <p:cNvSpPr/>
          <p:nvPr/>
        </p:nvSpPr>
        <p:spPr>
          <a:xfrm>
            <a:off x="411480" y="566928"/>
            <a:ext cx="8321040" cy="594360"/>
          </a:xfrm>
          <a:prstGeom prst="rect">
            <a:avLst/>
          </a:prstGeom>
          <a:noFill/>
          <a:ln/>
        </p:spPr>
        <p:txBody>
          <a:bodyPr wrap="square" lIns="0" tIns="0" rIns="0" bIns="0" rtlCol="0" anchor="ctr"/>
          <a:lstStyle/>
          <a:p>
            <a:pPr marL="0" indent="0" algn="l">
              <a:buNone/>
            </a:pPr>
            <a:r>
              <a:rPr lang="en-US" sz="2200" b="1" dirty="0">
                <a:solidFill>
                  <a:srgbClr val="F0EDE6"/>
                </a:solidFill>
              </a:rPr>
              <a:t>Une solution techniquement viable dès aujourd'hui.</a:t>
            </a:r>
            <a:endParaRPr lang="en-US" sz="2200" dirty="0"/>
          </a:p>
        </p:txBody>
      </p:sp>
      <p:sp>
        <p:nvSpPr>
          <p:cNvPr id="6" name="Shape 4"/>
          <p:cNvSpPr/>
          <p:nvPr/>
        </p:nvSpPr>
        <p:spPr>
          <a:xfrm>
            <a:off x="0" y="4892040"/>
            <a:ext cx="9144000" cy="251460"/>
          </a:xfrm>
          <a:prstGeom prst="rect">
            <a:avLst/>
          </a:prstGeom>
          <a:solidFill>
            <a:srgbClr val="1A2535"/>
          </a:solidFill>
          <a:ln w="12700">
            <a:solidFill>
              <a:srgbClr val="1A2535"/>
            </a:solidFill>
            <a:prstDash val="solid"/>
          </a:ln>
        </p:spPr>
      </p:sp>
      <p:sp>
        <p:nvSpPr>
          <p:cNvPr id="7" name="Text 5"/>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8" name="Shape 6"/>
          <p:cNvSpPr/>
          <p:nvPr/>
        </p:nvSpPr>
        <p:spPr>
          <a:xfrm>
            <a:off x="411480" y="1325880"/>
            <a:ext cx="8321040" cy="105156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9" name="Shape 7"/>
          <p:cNvSpPr/>
          <p:nvPr/>
        </p:nvSpPr>
        <p:spPr>
          <a:xfrm>
            <a:off x="411480" y="1325880"/>
            <a:ext cx="91440" cy="1051560"/>
          </a:xfrm>
          <a:prstGeom prst="rect">
            <a:avLst/>
          </a:prstGeom>
          <a:solidFill>
            <a:srgbClr val="C8792B"/>
          </a:solidFill>
          <a:ln w="12700">
            <a:solidFill>
              <a:srgbClr val="C8792B"/>
            </a:solidFill>
            <a:prstDash val="solid"/>
          </a:ln>
        </p:spPr>
      </p:sp>
      <p:sp>
        <p:nvSpPr>
          <p:cNvPr id="10" name="Text 8"/>
          <p:cNvSpPr/>
          <p:nvPr/>
        </p:nvSpPr>
        <p:spPr>
          <a:xfrm>
            <a:off x="594360" y="1344168"/>
            <a:ext cx="8046720" cy="1014984"/>
          </a:xfrm>
          <a:prstGeom prst="rect">
            <a:avLst/>
          </a:prstGeom>
          <a:noFill/>
          <a:ln/>
        </p:spPr>
        <p:txBody>
          <a:bodyPr wrap="square" lIns="0" tIns="0" rIns="0" bIns="0" rtlCol="0" anchor="ctr"/>
          <a:lstStyle/>
          <a:p>
            <a:pPr marL="0" indent="0" algn="just">
              <a:buNone/>
            </a:pPr>
            <a:r>
              <a:rPr lang="en-US" sz="1050" dirty="0">
                <a:solidFill>
                  <a:srgbClr val="F0EDE6"/>
                </a:solidFill>
              </a:rPr>
              <a:t>L'équipe réunît des compétences Full Stack, Backend, Mobile et Web, encadrées par un Software Engineer expérimenté cofondateur de Lurnix. Les technologies choisies sont open-source, éprouvées en contexte africain et adaptées à une infrastructure à faible bande passante. L'intégration des réglementations OHADA, RCCM et IFU a été prise en compte dans la conception. Le déploiement progressif par modules réduit les risques et les coûts initiaux.</a:t>
            </a:r>
            <a:endParaRPr lang="en-US" sz="1050" dirty="0"/>
          </a:p>
        </p:txBody>
      </p:sp>
      <p:sp>
        <p:nvSpPr>
          <p:cNvPr id="11" name="Shape 9"/>
          <p:cNvSpPr/>
          <p:nvPr/>
        </p:nvSpPr>
        <p:spPr>
          <a:xfrm>
            <a:off x="411480" y="2514600"/>
            <a:ext cx="1920240" cy="19202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2" name="Shape 10"/>
          <p:cNvSpPr/>
          <p:nvPr/>
        </p:nvSpPr>
        <p:spPr>
          <a:xfrm>
            <a:off x="411480" y="2514600"/>
            <a:ext cx="1920240" cy="347472"/>
          </a:xfrm>
          <a:prstGeom prst="rect">
            <a:avLst/>
          </a:prstGeom>
          <a:solidFill>
            <a:srgbClr val="C8792B"/>
          </a:solidFill>
          <a:ln w="12700">
            <a:solidFill>
              <a:srgbClr val="C8792B"/>
            </a:solidFill>
            <a:prstDash val="solid"/>
          </a:ln>
        </p:spPr>
      </p:sp>
      <p:sp>
        <p:nvSpPr>
          <p:cNvPr id="13" name="Text 11"/>
          <p:cNvSpPr/>
          <p:nvPr/>
        </p:nvSpPr>
        <p:spPr>
          <a:xfrm>
            <a:off x="411480" y="2514600"/>
            <a:ext cx="1920240" cy="347472"/>
          </a:xfrm>
          <a:prstGeom prst="rect">
            <a:avLst/>
          </a:prstGeom>
          <a:noFill/>
          <a:ln/>
        </p:spPr>
        <p:txBody>
          <a:bodyPr wrap="square" lIns="0" tIns="0" rIns="0" bIns="0" rtlCol="0" anchor="ctr"/>
          <a:lstStyle/>
          <a:p>
            <a:pPr marL="0" indent="0" algn="ctr">
              <a:buNone/>
            </a:pPr>
            <a:r>
              <a:rPr lang="en-US" sz="1000" b="1" dirty="0">
                <a:solidFill>
                  <a:srgbClr val="0C1117"/>
                </a:solidFill>
              </a:rPr>
              <a:t>Stack éprouvée</a:t>
            </a:r>
            <a:endParaRPr lang="en-US" sz="1000" dirty="0"/>
          </a:p>
        </p:txBody>
      </p:sp>
      <p:sp>
        <p:nvSpPr>
          <p:cNvPr id="14" name="Text 12"/>
          <p:cNvSpPr/>
          <p:nvPr/>
        </p:nvSpPr>
        <p:spPr>
          <a:xfrm>
            <a:off x="411480" y="2907792"/>
            <a:ext cx="1920240" cy="1417320"/>
          </a:xfrm>
          <a:prstGeom prst="rect">
            <a:avLst/>
          </a:prstGeom>
          <a:noFill/>
          <a:ln/>
        </p:spPr>
        <p:txBody>
          <a:bodyPr wrap="square" lIns="0" tIns="76200" rIns="76200" bIns="0" rtlCol="0" anchor="ctr"/>
          <a:lstStyle/>
          <a:p>
            <a:pPr marL="0" indent="0" algn="ctr">
              <a:buNone/>
            </a:pPr>
            <a:r>
              <a:rPr lang="en-US" sz="950" dirty="0">
                <a:solidFill>
                  <a:srgbClr val="F0EDE6"/>
                </a:solidFill>
              </a:rPr>
              <a:t>Next.js (web), React Native/Flutter,</a:t>
            </a:r>
            <a:endParaRPr lang="en-US" sz="950" dirty="0"/>
          </a:p>
          <a:p>
            <a:pPr marL="0" indent="0" algn="ctr">
              <a:buNone/>
            </a:pPr>
            <a:r>
              <a:rPr lang="en-US" sz="950" dirty="0">
                <a:solidFill>
                  <a:srgbClr val="F0EDE6"/>
                </a:solidFill>
              </a:rPr>
              <a:t>Node.js + Express, MySQL</a:t>
            </a:r>
            <a:endParaRPr lang="en-US" sz="950" dirty="0"/>
          </a:p>
        </p:txBody>
      </p:sp>
      <p:sp>
        <p:nvSpPr>
          <p:cNvPr id="15" name="Shape 13"/>
          <p:cNvSpPr/>
          <p:nvPr/>
        </p:nvSpPr>
        <p:spPr>
          <a:xfrm>
            <a:off x="2532888" y="2514600"/>
            <a:ext cx="1920240" cy="19202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6" name="Shape 14"/>
          <p:cNvSpPr/>
          <p:nvPr/>
        </p:nvSpPr>
        <p:spPr>
          <a:xfrm>
            <a:off x="2532888" y="2514600"/>
            <a:ext cx="1920240" cy="347472"/>
          </a:xfrm>
          <a:prstGeom prst="rect">
            <a:avLst/>
          </a:prstGeom>
          <a:solidFill>
            <a:srgbClr val="C8792B"/>
          </a:solidFill>
          <a:ln w="12700">
            <a:solidFill>
              <a:srgbClr val="C8792B"/>
            </a:solidFill>
            <a:prstDash val="solid"/>
          </a:ln>
        </p:spPr>
      </p:sp>
      <p:sp>
        <p:nvSpPr>
          <p:cNvPr id="17" name="Text 15"/>
          <p:cNvSpPr/>
          <p:nvPr/>
        </p:nvSpPr>
        <p:spPr>
          <a:xfrm>
            <a:off x="2532888" y="2514600"/>
            <a:ext cx="1920240" cy="347472"/>
          </a:xfrm>
          <a:prstGeom prst="rect">
            <a:avLst/>
          </a:prstGeom>
          <a:noFill/>
          <a:ln/>
        </p:spPr>
        <p:txBody>
          <a:bodyPr wrap="square" lIns="0" tIns="0" rIns="0" bIns="0" rtlCol="0" anchor="ctr"/>
          <a:lstStyle/>
          <a:p>
            <a:pPr marL="0" indent="0" algn="ctr">
              <a:buNone/>
            </a:pPr>
            <a:r>
              <a:rPr lang="en-US" sz="1000" b="1" dirty="0">
                <a:solidFill>
                  <a:srgbClr val="0C1117"/>
                </a:solidFill>
              </a:rPr>
              <a:t>Conformité OHADA</a:t>
            </a:r>
            <a:endParaRPr lang="en-US" sz="1000" dirty="0"/>
          </a:p>
        </p:txBody>
      </p:sp>
      <p:sp>
        <p:nvSpPr>
          <p:cNvPr id="18" name="Text 16"/>
          <p:cNvSpPr/>
          <p:nvPr/>
        </p:nvSpPr>
        <p:spPr>
          <a:xfrm>
            <a:off x="2532888" y="2907792"/>
            <a:ext cx="1920240" cy="1417320"/>
          </a:xfrm>
          <a:prstGeom prst="rect">
            <a:avLst/>
          </a:prstGeom>
          <a:noFill/>
          <a:ln/>
        </p:spPr>
        <p:txBody>
          <a:bodyPr wrap="square" lIns="0" tIns="76200" rIns="76200" bIns="0" rtlCol="0" anchor="ctr"/>
          <a:lstStyle/>
          <a:p>
            <a:pPr marL="0" indent="0" algn="ctr">
              <a:buNone/>
            </a:pPr>
            <a:r>
              <a:rPr lang="en-US" sz="950" dirty="0">
                <a:solidFill>
                  <a:srgbClr val="F0EDE6"/>
                </a:solidFill>
              </a:rPr>
              <a:t>RCCM, IFU, CNSS + MTN/Moov/Celtis</a:t>
            </a:r>
            <a:endParaRPr lang="en-US" sz="950" dirty="0"/>
          </a:p>
          <a:p>
            <a:pPr marL="0" indent="0" algn="ctr">
              <a:buNone/>
            </a:pPr>
            <a:r>
              <a:rPr lang="en-US" sz="950" dirty="0">
                <a:solidFill>
                  <a:srgbClr val="F0EDE6"/>
                </a:solidFill>
              </a:rPr>
              <a:t>intégrés nativement</a:t>
            </a:r>
            <a:endParaRPr lang="en-US" sz="950" dirty="0"/>
          </a:p>
        </p:txBody>
      </p:sp>
      <p:sp>
        <p:nvSpPr>
          <p:cNvPr id="19" name="Shape 17"/>
          <p:cNvSpPr/>
          <p:nvPr/>
        </p:nvSpPr>
        <p:spPr>
          <a:xfrm>
            <a:off x="4654296" y="2514600"/>
            <a:ext cx="1920240" cy="19202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0" name="Shape 18"/>
          <p:cNvSpPr/>
          <p:nvPr/>
        </p:nvSpPr>
        <p:spPr>
          <a:xfrm>
            <a:off x="4654296" y="2514600"/>
            <a:ext cx="1920240" cy="347472"/>
          </a:xfrm>
          <a:prstGeom prst="rect">
            <a:avLst/>
          </a:prstGeom>
          <a:solidFill>
            <a:srgbClr val="C8792B"/>
          </a:solidFill>
          <a:ln w="12700">
            <a:solidFill>
              <a:srgbClr val="C8792B"/>
            </a:solidFill>
            <a:prstDash val="solid"/>
          </a:ln>
        </p:spPr>
      </p:sp>
      <p:sp>
        <p:nvSpPr>
          <p:cNvPr id="21" name="Text 19"/>
          <p:cNvSpPr/>
          <p:nvPr/>
        </p:nvSpPr>
        <p:spPr>
          <a:xfrm>
            <a:off x="4654296" y="2514600"/>
            <a:ext cx="1920240" cy="347472"/>
          </a:xfrm>
          <a:prstGeom prst="rect">
            <a:avLst/>
          </a:prstGeom>
          <a:noFill/>
          <a:ln/>
        </p:spPr>
        <p:txBody>
          <a:bodyPr wrap="square" lIns="0" tIns="0" rIns="0" bIns="0" rtlCol="0" anchor="ctr"/>
          <a:lstStyle/>
          <a:p>
            <a:pPr marL="0" indent="0" algn="ctr">
              <a:buNone/>
            </a:pPr>
            <a:r>
              <a:rPr lang="en-US" sz="1000" b="1" dirty="0">
                <a:solidFill>
                  <a:srgbClr val="0C1117"/>
                </a:solidFill>
              </a:rPr>
              <a:t>Mobile-first</a:t>
            </a:r>
            <a:endParaRPr lang="en-US" sz="1000" dirty="0"/>
          </a:p>
        </p:txBody>
      </p:sp>
      <p:sp>
        <p:nvSpPr>
          <p:cNvPr id="22" name="Text 20"/>
          <p:cNvSpPr/>
          <p:nvPr/>
        </p:nvSpPr>
        <p:spPr>
          <a:xfrm>
            <a:off x="4654296" y="2907792"/>
            <a:ext cx="1920240" cy="1417320"/>
          </a:xfrm>
          <a:prstGeom prst="rect">
            <a:avLst/>
          </a:prstGeom>
          <a:noFill/>
          <a:ln/>
        </p:spPr>
        <p:txBody>
          <a:bodyPr wrap="square" lIns="0" tIns="76200" rIns="76200" bIns="0" rtlCol="0" anchor="ctr"/>
          <a:lstStyle/>
          <a:p>
            <a:pPr marL="0" indent="0" algn="ctr">
              <a:buNone/>
            </a:pPr>
            <a:r>
              <a:rPr lang="en-US" sz="950" dirty="0">
                <a:solidFill>
                  <a:srgbClr val="F0EDE6"/>
                </a:solidFill>
              </a:rPr>
              <a:t>Offline-first, Android 7+,</a:t>
            </a:r>
            <a:endParaRPr lang="en-US" sz="950" dirty="0"/>
          </a:p>
          <a:p>
            <a:pPr marL="0" indent="0" algn="ctr">
              <a:buNone/>
            </a:pPr>
            <a:r>
              <a:rPr lang="en-US" sz="950" dirty="0">
                <a:solidFill>
                  <a:srgbClr val="F0EDE6"/>
                </a:solidFill>
              </a:rPr>
              <a:t>Fon, Yoruba, Dindi + chatbot IA</a:t>
            </a:r>
            <a:endParaRPr lang="en-US" sz="950" dirty="0"/>
          </a:p>
        </p:txBody>
      </p:sp>
      <p:sp>
        <p:nvSpPr>
          <p:cNvPr id="23" name="Shape 21"/>
          <p:cNvSpPr/>
          <p:nvPr/>
        </p:nvSpPr>
        <p:spPr>
          <a:xfrm>
            <a:off x="6775704" y="2514600"/>
            <a:ext cx="1920240" cy="19202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4" name="Shape 22"/>
          <p:cNvSpPr/>
          <p:nvPr/>
        </p:nvSpPr>
        <p:spPr>
          <a:xfrm>
            <a:off x="6775704" y="2514600"/>
            <a:ext cx="1920240" cy="347472"/>
          </a:xfrm>
          <a:prstGeom prst="rect">
            <a:avLst/>
          </a:prstGeom>
          <a:solidFill>
            <a:srgbClr val="C8792B"/>
          </a:solidFill>
          <a:ln w="12700">
            <a:solidFill>
              <a:srgbClr val="C8792B"/>
            </a:solidFill>
            <a:prstDash val="solid"/>
          </a:ln>
        </p:spPr>
      </p:sp>
      <p:sp>
        <p:nvSpPr>
          <p:cNvPr id="25" name="Text 23"/>
          <p:cNvSpPr/>
          <p:nvPr/>
        </p:nvSpPr>
        <p:spPr>
          <a:xfrm>
            <a:off x="6775704" y="2514600"/>
            <a:ext cx="1920240" cy="347472"/>
          </a:xfrm>
          <a:prstGeom prst="rect">
            <a:avLst/>
          </a:prstGeom>
          <a:noFill/>
          <a:ln/>
        </p:spPr>
        <p:txBody>
          <a:bodyPr wrap="square" lIns="0" tIns="0" rIns="0" bIns="0" rtlCol="0" anchor="ctr"/>
          <a:lstStyle/>
          <a:p>
            <a:pPr marL="0" indent="0" algn="ctr">
              <a:buNone/>
            </a:pPr>
            <a:r>
              <a:rPr lang="en-US" sz="1000" b="1" dirty="0">
                <a:solidFill>
                  <a:srgbClr val="0C1117"/>
                </a:solidFill>
              </a:rPr>
              <a:t>Cloud africain</a:t>
            </a:r>
            <a:endParaRPr lang="en-US" sz="1000" dirty="0"/>
          </a:p>
        </p:txBody>
      </p:sp>
      <p:sp>
        <p:nvSpPr>
          <p:cNvPr id="26" name="Text 24"/>
          <p:cNvSpPr/>
          <p:nvPr/>
        </p:nvSpPr>
        <p:spPr>
          <a:xfrm>
            <a:off x="6775704" y="2907792"/>
            <a:ext cx="1920240" cy="1417320"/>
          </a:xfrm>
          <a:prstGeom prst="rect">
            <a:avLst/>
          </a:prstGeom>
          <a:noFill/>
          <a:ln/>
        </p:spPr>
        <p:txBody>
          <a:bodyPr wrap="square" lIns="0" tIns="76200" rIns="76200" bIns="0" rtlCol="0" anchor="ctr"/>
          <a:lstStyle/>
          <a:p>
            <a:pPr marL="0" indent="0" algn="ctr">
              <a:buNone/>
            </a:pPr>
            <a:r>
              <a:rPr lang="en-US" sz="950" dirty="0">
                <a:solidFill>
                  <a:srgbClr val="F0EDE6"/>
                </a:solidFill>
              </a:rPr>
              <a:t>Souveraineté données africaine,</a:t>
            </a:r>
            <a:endParaRPr lang="en-US" sz="950" dirty="0"/>
          </a:p>
          <a:p>
            <a:pPr marL="0" indent="0" algn="ctr">
              <a:buNone/>
            </a:pPr>
            <a:r>
              <a:rPr lang="en-US" sz="950" dirty="0">
                <a:solidFill>
                  <a:srgbClr val="F0EDE6"/>
                </a:solidFill>
              </a:rPr>
              <a:t>Sauvegardes auto, haute dispo</a:t>
            </a:r>
            <a:endParaRPr lang="en-US" sz="9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07 — MODÈLE ÉCONOMIQUE</a:t>
            </a:r>
            <a:endParaRPr lang="en-US" sz="900" dirty="0"/>
          </a:p>
        </p:txBody>
      </p:sp>
      <p:sp>
        <p:nvSpPr>
          <p:cNvPr id="5" name="Text 3"/>
          <p:cNvSpPr/>
          <p:nvPr/>
        </p:nvSpPr>
        <p:spPr>
          <a:xfrm>
            <a:off x="411480" y="566928"/>
            <a:ext cx="8321040" cy="594360"/>
          </a:xfrm>
          <a:prstGeom prst="rect">
            <a:avLst/>
          </a:prstGeom>
          <a:noFill/>
          <a:ln/>
        </p:spPr>
        <p:txBody>
          <a:bodyPr wrap="square" lIns="0" tIns="0" rIns="0" bIns="0" rtlCol="0" anchor="ctr"/>
          <a:lstStyle/>
          <a:p>
            <a:pPr marL="0" indent="0" algn="l">
              <a:buNone/>
            </a:pPr>
            <a:r>
              <a:rPr lang="en-US" sz="2200" b="1" dirty="0">
                <a:solidFill>
                  <a:srgbClr val="F0EDE6"/>
                </a:solidFill>
              </a:rPr>
              <a:t>Un modèle viable, 3 sources de revenus complémentaires.</a:t>
            </a:r>
            <a:endParaRPr lang="en-US" sz="2200" dirty="0"/>
          </a:p>
        </p:txBody>
      </p:sp>
      <p:sp>
        <p:nvSpPr>
          <p:cNvPr id="6" name="Shape 4"/>
          <p:cNvSpPr/>
          <p:nvPr/>
        </p:nvSpPr>
        <p:spPr>
          <a:xfrm>
            <a:off x="0" y="4892040"/>
            <a:ext cx="9144000" cy="251460"/>
          </a:xfrm>
          <a:prstGeom prst="rect">
            <a:avLst/>
          </a:prstGeom>
          <a:solidFill>
            <a:srgbClr val="1A2535"/>
          </a:solidFill>
          <a:ln w="12700">
            <a:solidFill>
              <a:srgbClr val="1A2535"/>
            </a:solidFill>
            <a:prstDash val="solid"/>
          </a:ln>
        </p:spPr>
      </p:sp>
      <p:sp>
        <p:nvSpPr>
          <p:cNvPr id="7" name="Text 5"/>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8" name="Shape 6"/>
          <p:cNvSpPr/>
          <p:nvPr/>
        </p:nvSpPr>
        <p:spPr>
          <a:xfrm>
            <a:off x="411480" y="1325880"/>
            <a:ext cx="2606040" cy="28346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9" name="Shape 7"/>
          <p:cNvSpPr/>
          <p:nvPr/>
        </p:nvSpPr>
        <p:spPr>
          <a:xfrm>
            <a:off x="411480" y="1325880"/>
            <a:ext cx="2606040" cy="384048"/>
          </a:xfrm>
          <a:prstGeom prst="rect">
            <a:avLst/>
          </a:prstGeom>
          <a:solidFill>
            <a:srgbClr val="C8792B"/>
          </a:solidFill>
          <a:ln w="12700">
            <a:solidFill>
              <a:srgbClr val="C8792B"/>
            </a:solidFill>
            <a:prstDash val="solid"/>
          </a:ln>
        </p:spPr>
      </p:sp>
      <p:sp>
        <p:nvSpPr>
          <p:cNvPr id="10" name="Text 8"/>
          <p:cNvSpPr/>
          <p:nvPr/>
        </p:nvSpPr>
        <p:spPr>
          <a:xfrm>
            <a:off x="411480" y="1325880"/>
            <a:ext cx="2606040" cy="384048"/>
          </a:xfrm>
          <a:prstGeom prst="rect">
            <a:avLst/>
          </a:prstGeom>
          <a:noFill/>
          <a:ln/>
        </p:spPr>
        <p:txBody>
          <a:bodyPr wrap="square" lIns="0" tIns="0" rIns="0" bIns="0" rtlCol="0" anchor="ctr"/>
          <a:lstStyle/>
          <a:p>
            <a:pPr marL="0" indent="0" algn="ctr">
              <a:buNone/>
            </a:pPr>
            <a:r>
              <a:rPr lang="en-US" sz="1300" b="1" dirty="0">
                <a:solidFill>
                  <a:srgbClr val="0C1117"/>
                </a:solidFill>
              </a:rPr>
              <a:t>Abonnements</a:t>
            </a:r>
            <a:endParaRPr lang="en-US" sz="1300" dirty="0"/>
          </a:p>
        </p:txBody>
      </p:sp>
      <p:sp>
        <p:nvSpPr>
          <p:cNvPr id="11" name="Shape 9"/>
          <p:cNvSpPr/>
          <p:nvPr/>
        </p:nvSpPr>
        <p:spPr>
          <a:xfrm>
            <a:off x="640080" y="1828800"/>
            <a:ext cx="73152" cy="292608"/>
          </a:xfrm>
          <a:prstGeom prst="rect">
            <a:avLst/>
          </a:prstGeom>
          <a:solidFill>
            <a:srgbClr val="C8792B"/>
          </a:solidFill>
          <a:ln w="12700">
            <a:solidFill>
              <a:srgbClr val="C8792B"/>
            </a:solidFill>
            <a:prstDash val="solid"/>
          </a:ln>
        </p:spPr>
      </p:sp>
      <p:sp>
        <p:nvSpPr>
          <p:cNvPr id="12" name="Text 10"/>
          <p:cNvSpPr/>
          <p:nvPr/>
        </p:nvSpPr>
        <p:spPr>
          <a:xfrm>
            <a:off x="822960" y="1810512"/>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Gratuit : découverte</a:t>
            </a:r>
            <a:endParaRPr lang="en-US" sz="1000" dirty="0"/>
          </a:p>
        </p:txBody>
      </p:sp>
      <p:sp>
        <p:nvSpPr>
          <p:cNvPr id="13" name="Shape 11"/>
          <p:cNvSpPr/>
          <p:nvPr/>
        </p:nvSpPr>
        <p:spPr>
          <a:xfrm>
            <a:off x="640080" y="2359152"/>
            <a:ext cx="73152" cy="292608"/>
          </a:xfrm>
          <a:prstGeom prst="rect">
            <a:avLst/>
          </a:prstGeom>
          <a:solidFill>
            <a:srgbClr val="C8792B"/>
          </a:solidFill>
          <a:ln w="12700">
            <a:solidFill>
              <a:srgbClr val="C8792B"/>
            </a:solidFill>
            <a:prstDash val="solid"/>
          </a:ln>
        </p:spPr>
      </p:sp>
      <p:sp>
        <p:nvSpPr>
          <p:cNvPr id="14" name="Text 12"/>
          <p:cNvSpPr/>
          <p:nvPr/>
        </p:nvSpPr>
        <p:spPr>
          <a:xfrm>
            <a:off x="822960" y="2340864"/>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Essentiel : 2 000 FCFA/mois</a:t>
            </a:r>
            <a:endParaRPr lang="en-US" sz="1000" dirty="0"/>
          </a:p>
        </p:txBody>
      </p:sp>
      <p:sp>
        <p:nvSpPr>
          <p:cNvPr id="15" name="Shape 13"/>
          <p:cNvSpPr/>
          <p:nvPr/>
        </p:nvSpPr>
        <p:spPr>
          <a:xfrm>
            <a:off x="640080" y="2889504"/>
            <a:ext cx="73152" cy="292608"/>
          </a:xfrm>
          <a:prstGeom prst="rect">
            <a:avLst/>
          </a:prstGeom>
          <a:solidFill>
            <a:srgbClr val="C8792B"/>
          </a:solidFill>
          <a:ln w="12700">
            <a:solidFill>
              <a:srgbClr val="C8792B"/>
            </a:solidFill>
            <a:prstDash val="solid"/>
          </a:ln>
        </p:spPr>
      </p:sp>
      <p:sp>
        <p:nvSpPr>
          <p:cNvPr id="16" name="Text 14"/>
          <p:cNvSpPr/>
          <p:nvPr/>
        </p:nvSpPr>
        <p:spPr>
          <a:xfrm>
            <a:off x="822960" y="2871216"/>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Pro : 5 000 FCFA/mois</a:t>
            </a:r>
            <a:endParaRPr lang="en-US" sz="1000" dirty="0"/>
          </a:p>
        </p:txBody>
      </p:sp>
      <p:sp>
        <p:nvSpPr>
          <p:cNvPr id="17" name="Shape 15"/>
          <p:cNvSpPr/>
          <p:nvPr/>
        </p:nvSpPr>
        <p:spPr>
          <a:xfrm>
            <a:off x="640080" y="3419856"/>
            <a:ext cx="73152" cy="292608"/>
          </a:xfrm>
          <a:prstGeom prst="rect">
            <a:avLst/>
          </a:prstGeom>
          <a:solidFill>
            <a:srgbClr val="C8792B"/>
          </a:solidFill>
          <a:ln w="12700">
            <a:solidFill>
              <a:srgbClr val="C8792B"/>
            </a:solidFill>
            <a:prstDash val="solid"/>
          </a:ln>
        </p:spPr>
      </p:sp>
      <p:sp>
        <p:nvSpPr>
          <p:cNvPr id="18" name="Text 16"/>
          <p:cNvSpPr/>
          <p:nvPr/>
        </p:nvSpPr>
        <p:spPr>
          <a:xfrm>
            <a:off x="822960" y="3401568"/>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Institution : sur devis</a:t>
            </a:r>
            <a:endParaRPr lang="en-US" sz="1000" dirty="0"/>
          </a:p>
        </p:txBody>
      </p:sp>
      <p:sp>
        <p:nvSpPr>
          <p:cNvPr id="19" name="Shape 17"/>
          <p:cNvSpPr/>
          <p:nvPr/>
        </p:nvSpPr>
        <p:spPr>
          <a:xfrm>
            <a:off x="3218688" y="1325880"/>
            <a:ext cx="2606040" cy="28346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0" name="Shape 18"/>
          <p:cNvSpPr/>
          <p:nvPr/>
        </p:nvSpPr>
        <p:spPr>
          <a:xfrm>
            <a:off x="3218688" y="1325880"/>
            <a:ext cx="2606040" cy="384048"/>
          </a:xfrm>
          <a:prstGeom prst="rect">
            <a:avLst/>
          </a:prstGeom>
          <a:solidFill>
            <a:srgbClr val="C8792B"/>
          </a:solidFill>
          <a:ln w="12700">
            <a:solidFill>
              <a:srgbClr val="C8792B"/>
            </a:solidFill>
            <a:prstDash val="solid"/>
          </a:ln>
        </p:spPr>
      </p:sp>
      <p:sp>
        <p:nvSpPr>
          <p:cNvPr id="21" name="Text 19"/>
          <p:cNvSpPr/>
          <p:nvPr/>
        </p:nvSpPr>
        <p:spPr>
          <a:xfrm>
            <a:off x="3218688" y="1325880"/>
            <a:ext cx="2606040" cy="384048"/>
          </a:xfrm>
          <a:prstGeom prst="rect">
            <a:avLst/>
          </a:prstGeom>
          <a:noFill/>
          <a:ln/>
        </p:spPr>
        <p:txBody>
          <a:bodyPr wrap="square" lIns="0" tIns="0" rIns="0" bIns="0" rtlCol="0" anchor="ctr"/>
          <a:lstStyle/>
          <a:p>
            <a:pPr marL="0" indent="0" algn="ctr">
              <a:buNone/>
            </a:pPr>
            <a:r>
              <a:rPr lang="en-US" sz="1300" b="1" dirty="0">
                <a:solidFill>
                  <a:srgbClr val="0C1117"/>
                </a:solidFill>
              </a:rPr>
              <a:t>Commissions</a:t>
            </a:r>
            <a:endParaRPr lang="en-US" sz="1300" dirty="0"/>
          </a:p>
        </p:txBody>
      </p:sp>
      <p:sp>
        <p:nvSpPr>
          <p:cNvPr id="22" name="Shape 20"/>
          <p:cNvSpPr/>
          <p:nvPr/>
        </p:nvSpPr>
        <p:spPr>
          <a:xfrm>
            <a:off x="3447288" y="1828800"/>
            <a:ext cx="73152" cy="292608"/>
          </a:xfrm>
          <a:prstGeom prst="rect">
            <a:avLst/>
          </a:prstGeom>
          <a:solidFill>
            <a:srgbClr val="C8792B"/>
          </a:solidFill>
          <a:ln w="12700">
            <a:solidFill>
              <a:srgbClr val="C8792B"/>
            </a:solidFill>
            <a:prstDash val="solid"/>
          </a:ln>
        </p:spPr>
      </p:sp>
      <p:sp>
        <p:nvSpPr>
          <p:cNvPr id="23" name="Text 21"/>
          <p:cNvSpPr/>
          <p:nvPr/>
        </p:nvSpPr>
        <p:spPr>
          <a:xfrm>
            <a:off x="3630168" y="1810512"/>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3 à 5% sur financements obtenus via la plateforme</a:t>
            </a:r>
            <a:endParaRPr lang="en-US" sz="1000" dirty="0"/>
          </a:p>
        </p:txBody>
      </p:sp>
      <p:sp>
        <p:nvSpPr>
          <p:cNvPr id="24" name="Shape 22"/>
          <p:cNvSpPr/>
          <p:nvPr/>
        </p:nvSpPr>
        <p:spPr>
          <a:xfrm>
            <a:off x="3447288" y="2359152"/>
            <a:ext cx="73152" cy="292608"/>
          </a:xfrm>
          <a:prstGeom prst="rect">
            <a:avLst/>
          </a:prstGeom>
          <a:solidFill>
            <a:srgbClr val="C8792B"/>
          </a:solidFill>
          <a:ln w="12700">
            <a:solidFill>
              <a:srgbClr val="C8792B"/>
            </a:solidFill>
            <a:prstDash val="solid"/>
          </a:ln>
        </p:spPr>
      </p:sp>
      <p:sp>
        <p:nvSpPr>
          <p:cNvPr id="25" name="Text 23"/>
          <p:cNvSpPr/>
          <p:nvPr/>
        </p:nvSpPr>
        <p:spPr>
          <a:xfrm>
            <a:off x="3630168" y="2340864"/>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Commission experts partenaires</a:t>
            </a:r>
            <a:endParaRPr lang="en-US" sz="1000" dirty="0"/>
          </a:p>
        </p:txBody>
      </p:sp>
      <p:sp>
        <p:nvSpPr>
          <p:cNvPr id="26" name="Shape 24"/>
          <p:cNvSpPr/>
          <p:nvPr/>
        </p:nvSpPr>
        <p:spPr>
          <a:xfrm>
            <a:off x="6025896" y="1325880"/>
            <a:ext cx="2606040" cy="28346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7" name="Shape 25"/>
          <p:cNvSpPr/>
          <p:nvPr/>
        </p:nvSpPr>
        <p:spPr>
          <a:xfrm>
            <a:off x="6025896" y="1325880"/>
            <a:ext cx="2606040" cy="384048"/>
          </a:xfrm>
          <a:prstGeom prst="rect">
            <a:avLst/>
          </a:prstGeom>
          <a:solidFill>
            <a:srgbClr val="C8792B"/>
          </a:solidFill>
          <a:ln w="12700">
            <a:solidFill>
              <a:srgbClr val="C8792B"/>
            </a:solidFill>
            <a:prstDash val="solid"/>
          </a:ln>
        </p:spPr>
      </p:sp>
      <p:sp>
        <p:nvSpPr>
          <p:cNvPr id="28" name="Text 26"/>
          <p:cNvSpPr/>
          <p:nvPr/>
        </p:nvSpPr>
        <p:spPr>
          <a:xfrm>
            <a:off x="6025896" y="1325880"/>
            <a:ext cx="2606040" cy="384048"/>
          </a:xfrm>
          <a:prstGeom prst="rect">
            <a:avLst/>
          </a:prstGeom>
          <a:noFill/>
          <a:ln/>
        </p:spPr>
        <p:txBody>
          <a:bodyPr wrap="square" lIns="0" tIns="0" rIns="0" bIns="0" rtlCol="0" anchor="ctr"/>
          <a:lstStyle/>
          <a:p>
            <a:pPr marL="0" indent="0" algn="ctr">
              <a:buNone/>
            </a:pPr>
            <a:r>
              <a:rPr lang="en-US" sz="1300" b="1" dirty="0">
                <a:solidFill>
                  <a:srgbClr val="0C1117"/>
                </a:solidFill>
              </a:rPr>
              <a:t>Partenariats B2B</a:t>
            </a:r>
            <a:endParaRPr lang="en-US" sz="1300" dirty="0"/>
          </a:p>
        </p:txBody>
      </p:sp>
      <p:sp>
        <p:nvSpPr>
          <p:cNvPr id="29" name="Shape 27"/>
          <p:cNvSpPr/>
          <p:nvPr/>
        </p:nvSpPr>
        <p:spPr>
          <a:xfrm>
            <a:off x="6254496" y="1828800"/>
            <a:ext cx="73152" cy="292608"/>
          </a:xfrm>
          <a:prstGeom prst="rect">
            <a:avLst/>
          </a:prstGeom>
          <a:solidFill>
            <a:srgbClr val="C8792B"/>
          </a:solidFill>
          <a:ln w="12700">
            <a:solidFill>
              <a:srgbClr val="C8792B"/>
            </a:solidFill>
            <a:prstDash val="solid"/>
          </a:ln>
        </p:spPr>
      </p:sp>
      <p:sp>
        <p:nvSpPr>
          <p:cNvPr id="30" name="Text 28"/>
          <p:cNvSpPr/>
          <p:nvPr/>
        </p:nvSpPr>
        <p:spPr>
          <a:xfrm>
            <a:off x="6437376" y="1810512"/>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Licences banques/IMF</a:t>
            </a:r>
            <a:endParaRPr lang="en-US" sz="1000" dirty="0"/>
          </a:p>
        </p:txBody>
      </p:sp>
      <p:sp>
        <p:nvSpPr>
          <p:cNvPr id="31" name="Shape 29"/>
          <p:cNvSpPr/>
          <p:nvPr/>
        </p:nvSpPr>
        <p:spPr>
          <a:xfrm>
            <a:off x="6254496" y="2359152"/>
            <a:ext cx="73152" cy="292608"/>
          </a:xfrm>
          <a:prstGeom prst="rect">
            <a:avLst/>
          </a:prstGeom>
          <a:solidFill>
            <a:srgbClr val="C8792B"/>
          </a:solidFill>
          <a:ln w="12700">
            <a:solidFill>
              <a:srgbClr val="C8792B"/>
            </a:solidFill>
            <a:prstDash val="solid"/>
          </a:ln>
        </p:spPr>
      </p:sp>
      <p:sp>
        <p:nvSpPr>
          <p:cNvPr id="32" name="Text 30"/>
          <p:cNvSpPr/>
          <p:nvPr/>
        </p:nvSpPr>
        <p:spPr>
          <a:xfrm>
            <a:off x="6437376" y="2340864"/>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Accès aux Passeports PME</a:t>
            </a:r>
            <a:endParaRPr lang="en-US" sz="1000" dirty="0"/>
          </a:p>
        </p:txBody>
      </p:sp>
      <p:sp>
        <p:nvSpPr>
          <p:cNvPr id="33" name="Shape 31"/>
          <p:cNvSpPr/>
          <p:nvPr/>
        </p:nvSpPr>
        <p:spPr>
          <a:xfrm>
            <a:off x="6254496" y="2889504"/>
            <a:ext cx="73152" cy="292608"/>
          </a:xfrm>
          <a:prstGeom prst="rect">
            <a:avLst/>
          </a:prstGeom>
          <a:solidFill>
            <a:srgbClr val="C8792B"/>
          </a:solidFill>
          <a:ln w="12700">
            <a:solidFill>
              <a:srgbClr val="C8792B"/>
            </a:solidFill>
            <a:prstDash val="solid"/>
          </a:ln>
        </p:spPr>
      </p:sp>
      <p:sp>
        <p:nvSpPr>
          <p:cNvPr id="34" name="Text 32"/>
          <p:cNvSpPr/>
          <p:nvPr/>
        </p:nvSpPr>
        <p:spPr>
          <a:xfrm>
            <a:off x="6437376" y="2871216"/>
            <a:ext cx="2057400" cy="329184"/>
          </a:xfrm>
          <a:prstGeom prst="rect">
            <a:avLst/>
          </a:prstGeom>
          <a:noFill/>
          <a:ln/>
        </p:spPr>
        <p:txBody>
          <a:bodyPr wrap="square" lIns="0" tIns="0" rIns="0" bIns="0" rtlCol="0" anchor="ctr"/>
          <a:lstStyle/>
          <a:p>
            <a:pPr marL="0" indent="0" algn="l">
              <a:buNone/>
            </a:pPr>
            <a:r>
              <a:rPr lang="en-US" sz="1000" dirty="0">
                <a:solidFill>
                  <a:srgbClr val="F0EDE6"/>
                </a:solidFill>
              </a:rPr>
              <a:t>Contrats bailleurs de fonds</a:t>
            </a:r>
            <a:endParaRPr lang="en-US" sz="1000" dirty="0"/>
          </a:p>
        </p:txBody>
      </p:sp>
      <p:sp>
        <p:nvSpPr>
          <p:cNvPr id="35" name="Text 33"/>
          <p:cNvSpPr/>
          <p:nvPr/>
        </p:nvSpPr>
        <p:spPr>
          <a:xfrm>
            <a:off x="411480" y="4279392"/>
            <a:ext cx="2606040" cy="457200"/>
          </a:xfrm>
          <a:prstGeom prst="rect">
            <a:avLst/>
          </a:prstGeom>
          <a:noFill/>
          <a:ln/>
        </p:spPr>
        <p:txBody>
          <a:bodyPr wrap="square" lIns="0" tIns="0" rIns="0" bIns="0" rtlCol="0" anchor="ctr"/>
          <a:lstStyle/>
          <a:p>
            <a:pPr marL="0" indent="0" algn="ctr">
              <a:buNone/>
            </a:pPr>
            <a:r>
              <a:rPr lang="en-US" sz="950" b="1" i="1" dirty="0">
                <a:solidFill>
                  <a:srgbClr val="C8792B"/>
                </a:solidFill>
              </a:rPr>
              <a:t>500 abonnés comme objectif de la 1ère année</a:t>
            </a:r>
            <a:endParaRPr lang="en-US" sz="950" dirty="0"/>
          </a:p>
        </p:txBody>
      </p:sp>
      <p:sp>
        <p:nvSpPr>
          <p:cNvPr id="36" name="Text 34"/>
          <p:cNvSpPr/>
          <p:nvPr/>
        </p:nvSpPr>
        <p:spPr>
          <a:xfrm>
            <a:off x="3218688" y="4279392"/>
            <a:ext cx="2606040" cy="457200"/>
          </a:xfrm>
          <a:prstGeom prst="rect">
            <a:avLst/>
          </a:prstGeom>
          <a:noFill/>
          <a:ln/>
        </p:spPr>
        <p:txBody>
          <a:bodyPr wrap="square" lIns="0" tIns="0" rIns="0" bIns="0" rtlCol="0" anchor="ctr"/>
          <a:lstStyle/>
          <a:p>
            <a:pPr marL="0" indent="0" algn="ctr">
              <a:buNone/>
            </a:pPr>
            <a:r>
              <a:rPr lang="en-US" sz="950" b="1" i="1" dirty="0">
                <a:solidFill>
                  <a:srgbClr val="F0EDE6"/>
                </a:solidFill>
              </a:rPr>
              <a:t>Plus les MPME accèdent au crédit, plus les revenus augmentent</a:t>
            </a:r>
            <a:endParaRPr lang="en-US" sz="950" dirty="0"/>
          </a:p>
        </p:txBody>
      </p:sp>
      <p:sp>
        <p:nvSpPr>
          <p:cNvPr id="37" name="Text 35"/>
          <p:cNvSpPr/>
          <p:nvPr/>
        </p:nvSpPr>
        <p:spPr>
          <a:xfrm>
            <a:off x="6025896" y="4279392"/>
            <a:ext cx="2606040" cy="457200"/>
          </a:xfrm>
          <a:prstGeom prst="rect">
            <a:avLst/>
          </a:prstGeom>
          <a:noFill/>
          <a:ln/>
        </p:spPr>
        <p:txBody>
          <a:bodyPr wrap="square" lIns="0" tIns="0" rIns="0" bIns="0" rtlCol="0" anchor="ctr"/>
          <a:lstStyle/>
          <a:p>
            <a:pPr marL="0" indent="0" algn="ctr">
              <a:buNone/>
            </a:pPr>
            <a:r>
              <a:rPr lang="en-US" sz="950" b="1" i="1" dirty="0">
                <a:solidFill>
                  <a:srgbClr val="C8792B"/>
                </a:solidFill>
              </a:rPr>
              <a:t>Revenus récurrents et stables</a:t>
            </a:r>
            <a:endParaRPr lang="en-US" sz="95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2011680" cy="292608"/>
          </a:xfrm>
          <a:prstGeom prst="rect">
            <a:avLst/>
          </a:prstGeom>
          <a:solidFill>
            <a:srgbClr val="C8792B"/>
          </a:solidFill>
          <a:ln w="12700">
            <a:solidFill>
              <a:srgbClr val="C8792B"/>
            </a:solidFill>
            <a:prstDash val="solid"/>
          </a:ln>
        </p:spPr>
      </p:sp>
      <p:sp>
        <p:nvSpPr>
          <p:cNvPr id="4" name="Text 2"/>
          <p:cNvSpPr/>
          <p:nvPr/>
        </p:nvSpPr>
        <p:spPr>
          <a:xfrm>
            <a:off x="411480" y="164592"/>
            <a:ext cx="2011680" cy="292608"/>
          </a:xfrm>
          <a:prstGeom prst="rect">
            <a:avLst/>
          </a:prstGeom>
          <a:noFill/>
          <a:ln/>
        </p:spPr>
        <p:txBody>
          <a:bodyPr wrap="square" lIns="0" tIns="0" rIns="0" bIns="0" rtlCol="0" anchor="ctr"/>
          <a:lstStyle/>
          <a:p>
            <a:pPr marL="0" indent="0" algn="ctr">
              <a:buNone/>
            </a:pPr>
            <a:r>
              <a:rPr lang="en-US" sz="900" b="1" dirty="0">
                <a:solidFill>
                  <a:srgbClr val="0C1117"/>
                </a:solidFill>
              </a:rPr>
              <a:t>08 — NOTRE ÉQUIPE</a:t>
            </a:r>
            <a:endParaRPr lang="en-US" sz="900" dirty="0"/>
          </a:p>
        </p:txBody>
      </p:sp>
      <p:sp>
        <p:nvSpPr>
          <p:cNvPr id="5" name="Text 3"/>
          <p:cNvSpPr/>
          <p:nvPr/>
        </p:nvSpPr>
        <p:spPr>
          <a:xfrm>
            <a:off x="411480" y="566928"/>
            <a:ext cx="8321040" cy="594360"/>
          </a:xfrm>
          <a:prstGeom prst="rect">
            <a:avLst/>
          </a:prstGeom>
          <a:noFill/>
          <a:ln/>
        </p:spPr>
        <p:txBody>
          <a:bodyPr wrap="square" lIns="0" tIns="0" rIns="0" bIns="0" rtlCol="0" anchor="ctr"/>
          <a:lstStyle/>
          <a:p>
            <a:pPr marL="0" indent="0" algn="l">
              <a:buNone/>
            </a:pPr>
            <a:r>
              <a:rPr lang="en-US" sz="2200" b="1" dirty="0">
                <a:solidFill>
                  <a:srgbClr val="F0EDE6"/>
                </a:solidFill>
              </a:rPr>
              <a:t>Une équipe </a:t>
            </a:r>
            <a:r>
              <a:rPr lang="en-US" sz="2200" b="1" dirty="0" err="1">
                <a:solidFill>
                  <a:srgbClr val="F0EDE6"/>
                </a:solidFill>
              </a:rPr>
              <a:t>pluridisciplinaire</a:t>
            </a:r>
            <a:r>
              <a:rPr lang="en-US" sz="2200" b="1">
                <a:solidFill>
                  <a:srgbClr val="F0EDE6"/>
                </a:solidFill>
              </a:rPr>
              <a:t> et </a:t>
            </a:r>
            <a:r>
              <a:rPr lang="en-US" sz="2200" b="1" dirty="0">
                <a:solidFill>
                  <a:srgbClr val="F0EDE6"/>
                </a:solidFill>
              </a:rPr>
              <a:t>100% opérationnelle.</a:t>
            </a:r>
            <a:endParaRPr lang="en-US" sz="2200" dirty="0"/>
          </a:p>
        </p:txBody>
      </p:sp>
      <p:sp>
        <p:nvSpPr>
          <p:cNvPr id="6" name="Shape 4"/>
          <p:cNvSpPr/>
          <p:nvPr/>
        </p:nvSpPr>
        <p:spPr>
          <a:xfrm>
            <a:off x="0" y="4892040"/>
            <a:ext cx="9144000" cy="251460"/>
          </a:xfrm>
          <a:prstGeom prst="rect">
            <a:avLst/>
          </a:prstGeom>
          <a:solidFill>
            <a:srgbClr val="1A2535"/>
          </a:solidFill>
          <a:ln w="12700">
            <a:solidFill>
              <a:srgbClr val="1A2535"/>
            </a:solidFill>
            <a:prstDash val="solid"/>
          </a:ln>
        </p:spPr>
      </p:sp>
      <p:sp>
        <p:nvSpPr>
          <p:cNvPr id="7" name="Text 5"/>
          <p:cNvSpPr/>
          <p:nvPr/>
        </p:nvSpPr>
        <p:spPr>
          <a:xfrm>
            <a:off x="411480" y="4892040"/>
            <a:ext cx="8321040" cy="251460"/>
          </a:xfrm>
          <a:prstGeom prst="rect">
            <a:avLst/>
          </a:prstGeom>
          <a:noFill/>
          <a:ln/>
        </p:spPr>
        <p:txBody>
          <a:bodyPr wrap="square" lIns="0" tIns="0" rIns="0" bIns="0" rtlCol="0" anchor="ctr"/>
          <a:lstStyle/>
          <a:p>
            <a:pPr marL="0" indent="0" algn="ctr">
              <a:buNone/>
            </a:pPr>
            <a:r>
              <a:rPr lang="en-US" sz="800" dirty="0">
                <a:solidFill>
                  <a:srgbClr val="C8792B"/>
                </a:solidFill>
              </a:rPr>
              <a:t>MonEntreprise  —  Inclusion financière des MPME au Bénin  |  2026</a:t>
            </a:r>
            <a:endParaRPr lang="en-US" sz="800" dirty="0"/>
          </a:p>
        </p:txBody>
      </p:sp>
      <p:sp>
        <p:nvSpPr>
          <p:cNvPr id="8" name="Shape 6"/>
          <p:cNvSpPr/>
          <p:nvPr/>
        </p:nvSpPr>
        <p:spPr>
          <a:xfrm>
            <a:off x="411480" y="1325880"/>
            <a:ext cx="2606040" cy="13716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9" name="Shape 7"/>
          <p:cNvSpPr/>
          <p:nvPr/>
        </p:nvSpPr>
        <p:spPr>
          <a:xfrm>
            <a:off x="411480" y="1325880"/>
            <a:ext cx="2606040" cy="54864"/>
          </a:xfrm>
          <a:prstGeom prst="rect">
            <a:avLst/>
          </a:prstGeom>
          <a:solidFill>
            <a:srgbClr val="C8792B"/>
          </a:solidFill>
          <a:ln w="12700">
            <a:solidFill>
              <a:srgbClr val="C8792B"/>
            </a:solidFill>
            <a:prstDash val="solid"/>
          </a:ln>
        </p:spPr>
      </p:sp>
      <p:sp>
        <p:nvSpPr>
          <p:cNvPr id="10" name="Text 8"/>
          <p:cNvSpPr/>
          <p:nvPr/>
        </p:nvSpPr>
        <p:spPr>
          <a:xfrm>
            <a:off x="411480" y="1399032"/>
            <a:ext cx="2606040" cy="457200"/>
          </a:xfrm>
          <a:prstGeom prst="rect">
            <a:avLst/>
          </a:prstGeom>
          <a:noFill/>
          <a:ln/>
        </p:spPr>
        <p:txBody>
          <a:bodyPr wrap="square" lIns="0" tIns="0" rIns="0" bIns="0" rtlCol="0" anchor="ctr"/>
          <a:lstStyle/>
          <a:p>
            <a:pPr marL="0" indent="0" algn="ctr">
              <a:buNone/>
            </a:pPr>
            <a:r>
              <a:rPr lang="en-US" sz="1100" b="1" dirty="0">
                <a:solidFill>
                  <a:srgbClr val="F0EDE6"/>
                </a:solidFill>
              </a:rPr>
              <a:t>Bertos Periclès</a:t>
            </a:r>
            <a:endParaRPr lang="en-US" sz="1100" dirty="0"/>
          </a:p>
          <a:p>
            <a:pPr marL="0" indent="0" algn="ctr">
              <a:buNone/>
            </a:pPr>
            <a:r>
              <a:rPr lang="en-US" sz="1100" b="1" dirty="0">
                <a:solidFill>
                  <a:srgbClr val="F0EDE6"/>
                </a:solidFill>
              </a:rPr>
              <a:t>TOLO KPADONOU</a:t>
            </a:r>
            <a:endParaRPr lang="en-US" sz="1100" dirty="0"/>
          </a:p>
        </p:txBody>
      </p:sp>
      <p:sp>
        <p:nvSpPr>
          <p:cNvPr id="11" name="Text 9"/>
          <p:cNvSpPr/>
          <p:nvPr/>
        </p:nvSpPr>
        <p:spPr>
          <a:xfrm>
            <a:off x="411480" y="1874520"/>
            <a:ext cx="2606040" cy="292608"/>
          </a:xfrm>
          <a:prstGeom prst="rect">
            <a:avLst/>
          </a:prstGeom>
          <a:noFill/>
          <a:ln/>
        </p:spPr>
        <p:txBody>
          <a:bodyPr wrap="square" lIns="0" tIns="0" rIns="0" bIns="0" rtlCol="0" anchor="ctr"/>
          <a:lstStyle/>
          <a:p>
            <a:pPr marL="0" indent="0" algn="ctr">
              <a:buNone/>
            </a:pPr>
            <a:r>
              <a:rPr lang="en-US" sz="1000" b="1" dirty="0">
                <a:solidFill>
                  <a:srgbClr val="C8792B"/>
                </a:solidFill>
              </a:rPr>
              <a:t>Chef d'équipe</a:t>
            </a:r>
            <a:endParaRPr lang="en-US" sz="1000" dirty="0"/>
          </a:p>
        </p:txBody>
      </p:sp>
      <p:sp>
        <p:nvSpPr>
          <p:cNvPr id="12" name="Text 10"/>
          <p:cNvSpPr/>
          <p:nvPr/>
        </p:nvSpPr>
        <p:spPr>
          <a:xfrm>
            <a:off x="411480" y="2176272"/>
            <a:ext cx="2606040" cy="475488"/>
          </a:xfrm>
          <a:prstGeom prst="rect">
            <a:avLst/>
          </a:prstGeom>
          <a:noFill/>
          <a:ln/>
        </p:spPr>
        <p:txBody>
          <a:bodyPr wrap="square" lIns="0" tIns="0" rIns="0" bIns="0" rtlCol="0" anchor="ctr"/>
          <a:lstStyle/>
          <a:p>
            <a:pPr marL="0" indent="0" algn="ctr">
              <a:buNone/>
            </a:pPr>
            <a:r>
              <a:rPr lang="en-US" sz="900" dirty="0">
                <a:solidFill>
                  <a:srgbClr val="F0EDE6"/>
                </a:solidFill>
              </a:rPr>
              <a:t>Entrepreneur • Gestionnaire</a:t>
            </a:r>
            <a:endParaRPr lang="en-US" sz="900" dirty="0"/>
          </a:p>
          <a:p>
            <a:pPr marL="0" indent="0" algn="ctr">
              <a:buNone/>
            </a:pPr>
            <a:r>
              <a:rPr lang="en-US" sz="900" dirty="0">
                <a:solidFill>
                  <a:srgbClr val="F0EDE6"/>
                </a:solidFill>
              </a:rPr>
              <a:t>de projet • Comptable</a:t>
            </a:r>
            <a:endParaRPr lang="en-US" sz="900" dirty="0"/>
          </a:p>
        </p:txBody>
      </p:sp>
      <p:sp>
        <p:nvSpPr>
          <p:cNvPr id="13" name="Shape 11"/>
          <p:cNvSpPr/>
          <p:nvPr/>
        </p:nvSpPr>
        <p:spPr>
          <a:xfrm>
            <a:off x="3218688" y="1325880"/>
            <a:ext cx="2606040" cy="13716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4" name="Shape 12"/>
          <p:cNvSpPr/>
          <p:nvPr/>
        </p:nvSpPr>
        <p:spPr>
          <a:xfrm>
            <a:off x="3218688" y="1325880"/>
            <a:ext cx="2606040" cy="54864"/>
          </a:xfrm>
          <a:prstGeom prst="rect">
            <a:avLst/>
          </a:prstGeom>
          <a:solidFill>
            <a:srgbClr val="C8792B"/>
          </a:solidFill>
          <a:ln w="12700">
            <a:solidFill>
              <a:srgbClr val="C8792B"/>
            </a:solidFill>
            <a:prstDash val="solid"/>
          </a:ln>
        </p:spPr>
      </p:sp>
      <p:sp>
        <p:nvSpPr>
          <p:cNvPr id="15" name="Text 13"/>
          <p:cNvSpPr/>
          <p:nvPr/>
        </p:nvSpPr>
        <p:spPr>
          <a:xfrm>
            <a:off x="3218688" y="1399032"/>
            <a:ext cx="2606040" cy="457200"/>
          </a:xfrm>
          <a:prstGeom prst="rect">
            <a:avLst/>
          </a:prstGeom>
          <a:noFill/>
          <a:ln/>
        </p:spPr>
        <p:txBody>
          <a:bodyPr wrap="square" lIns="0" tIns="0" rIns="0" bIns="0" rtlCol="0" anchor="ctr"/>
          <a:lstStyle/>
          <a:p>
            <a:pPr marL="0" indent="0" algn="ctr">
              <a:buNone/>
            </a:pPr>
            <a:r>
              <a:rPr lang="en-US" sz="1100" b="1" dirty="0">
                <a:solidFill>
                  <a:srgbClr val="F0EDE6"/>
                </a:solidFill>
              </a:rPr>
              <a:t>Marius</a:t>
            </a:r>
            <a:endParaRPr lang="en-US" sz="1100" dirty="0"/>
          </a:p>
          <a:p>
            <a:pPr marL="0" indent="0" algn="ctr">
              <a:buNone/>
            </a:pPr>
            <a:r>
              <a:rPr lang="en-US" sz="1100" b="1" dirty="0">
                <a:solidFill>
                  <a:srgbClr val="F0EDE6"/>
                </a:solidFill>
              </a:rPr>
              <a:t>KANZE</a:t>
            </a:r>
            <a:endParaRPr lang="en-US" sz="1100" dirty="0"/>
          </a:p>
        </p:txBody>
      </p:sp>
      <p:sp>
        <p:nvSpPr>
          <p:cNvPr id="16" name="Text 14"/>
          <p:cNvSpPr/>
          <p:nvPr/>
        </p:nvSpPr>
        <p:spPr>
          <a:xfrm>
            <a:off x="3218688" y="1874520"/>
            <a:ext cx="2606040" cy="292608"/>
          </a:xfrm>
          <a:prstGeom prst="rect">
            <a:avLst/>
          </a:prstGeom>
          <a:noFill/>
          <a:ln/>
        </p:spPr>
        <p:txBody>
          <a:bodyPr wrap="square" lIns="0" tIns="0" rIns="0" bIns="0" rtlCol="0" anchor="ctr"/>
          <a:lstStyle/>
          <a:p>
            <a:pPr marL="0" indent="0" algn="ctr">
              <a:buNone/>
            </a:pPr>
            <a:r>
              <a:rPr lang="en-US" sz="1000" b="1" dirty="0">
                <a:solidFill>
                  <a:srgbClr val="C8792B"/>
                </a:solidFill>
              </a:rPr>
              <a:t>Dev. Full Stack</a:t>
            </a:r>
            <a:endParaRPr lang="en-US" sz="1000" dirty="0"/>
          </a:p>
        </p:txBody>
      </p:sp>
      <p:sp>
        <p:nvSpPr>
          <p:cNvPr id="17" name="Text 15"/>
          <p:cNvSpPr/>
          <p:nvPr/>
        </p:nvSpPr>
        <p:spPr>
          <a:xfrm>
            <a:off x="3218688" y="2176272"/>
            <a:ext cx="2606040" cy="475488"/>
          </a:xfrm>
          <a:prstGeom prst="rect">
            <a:avLst/>
          </a:prstGeom>
          <a:noFill/>
          <a:ln/>
        </p:spPr>
        <p:txBody>
          <a:bodyPr wrap="square" lIns="0" tIns="0" rIns="0" bIns="0" rtlCol="0" anchor="ctr"/>
          <a:lstStyle/>
          <a:p>
            <a:pPr marL="0" indent="0" algn="ctr">
              <a:buNone/>
            </a:pPr>
            <a:r>
              <a:rPr lang="en-US" sz="900" dirty="0">
                <a:solidFill>
                  <a:srgbClr val="F0EDE6"/>
                </a:solidFill>
              </a:rPr>
              <a:t>Architecture web</a:t>
            </a:r>
            <a:endParaRPr lang="en-US" sz="900" dirty="0"/>
          </a:p>
          <a:p>
            <a:pPr marL="0" indent="0" algn="ctr">
              <a:buNone/>
            </a:pPr>
            <a:r>
              <a:rPr lang="en-US" sz="900" dirty="0">
                <a:solidFill>
                  <a:srgbClr val="F0EDE6"/>
                </a:solidFill>
              </a:rPr>
              <a:t>Frontend &amp; Backend</a:t>
            </a:r>
            <a:endParaRPr lang="en-US" sz="900" dirty="0"/>
          </a:p>
        </p:txBody>
      </p:sp>
      <p:sp>
        <p:nvSpPr>
          <p:cNvPr id="18" name="Shape 16"/>
          <p:cNvSpPr/>
          <p:nvPr/>
        </p:nvSpPr>
        <p:spPr>
          <a:xfrm>
            <a:off x="6025896" y="1325880"/>
            <a:ext cx="2606040" cy="13716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9" name="Shape 17"/>
          <p:cNvSpPr/>
          <p:nvPr/>
        </p:nvSpPr>
        <p:spPr>
          <a:xfrm>
            <a:off x="6025896" y="1325880"/>
            <a:ext cx="2606040" cy="54864"/>
          </a:xfrm>
          <a:prstGeom prst="rect">
            <a:avLst/>
          </a:prstGeom>
          <a:solidFill>
            <a:srgbClr val="C8792B"/>
          </a:solidFill>
          <a:ln w="12700">
            <a:solidFill>
              <a:srgbClr val="C8792B"/>
            </a:solidFill>
            <a:prstDash val="solid"/>
          </a:ln>
        </p:spPr>
      </p:sp>
      <p:sp>
        <p:nvSpPr>
          <p:cNvPr id="20" name="Text 18"/>
          <p:cNvSpPr/>
          <p:nvPr/>
        </p:nvSpPr>
        <p:spPr>
          <a:xfrm>
            <a:off x="6025896" y="1399032"/>
            <a:ext cx="2606040" cy="457200"/>
          </a:xfrm>
          <a:prstGeom prst="rect">
            <a:avLst/>
          </a:prstGeom>
          <a:noFill/>
          <a:ln/>
        </p:spPr>
        <p:txBody>
          <a:bodyPr wrap="square" lIns="0" tIns="0" rIns="0" bIns="0" rtlCol="0" anchor="ctr"/>
          <a:lstStyle/>
          <a:p>
            <a:pPr marL="0" indent="0" algn="ctr">
              <a:buNone/>
            </a:pPr>
            <a:r>
              <a:rPr lang="en-US" sz="1100" b="1" dirty="0">
                <a:solidFill>
                  <a:srgbClr val="F0EDE6"/>
                </a:solidFill>
              </a:rPr>
              <a:t>Cendrelle</a:t>
            </a:r>
            <a:endParaRPr lang="en-US" sz="1100" dirty="0"/>
          </a:p>
          <a:p>
            <a:pPr marL="0" indent="0" algn="ctr">
              <a:buNone/>
            </a:pPr>
            <a:r>
              <a:rPr lang="en-US" sz="1100" b="1" dirty="0">
                <a:solidFill>
                  <a:srgbClr val="F0EDE6"/>
                </a:solidFill>
              </a:rPr>
              <a:t>FAIZOUN</a:t>
            </a:r>
            <a:endParaRPr lang="en-US" sz="1100" dirty="0"/>
          </a:p>
        </p:txBody>
      </p:sp>
      <p:sp>
        <p:nvSpPr>
          <p:cNvPr id="21" name="Text 19"/>
          <p:cNvSpPr/>
          <p:nvPr/>
        </p:nvSpPr>
        <p:spPr>
          <a:xfrm>
            <a:off x="6025896" y="1874520"/>
            <a:ext cx="2606040" cy="292608"/>
          </a:xfrm>
          <a:prstGeom prst="rect">
            <a:avLst/>
          </a:prstGeom>
          <a:noFill/>
          <a:ln/>
        </p:spPr>
        <p:txBody>
          <a:bodyPr wrap="square" lIns="0" tIns="0" rIns="0" bIns="0" rtlCol="0" anchor="ctr"/>
          <a:lstStyle/>
          <a:p>
            <a:pPr marL="0" indent="0" algn="ctr">
              <a:buNone/>
            </a:pPr>
            <a:r>
              <a:rPr lang="en-US" sz="1000" b="1" dirty="0">
                <a:solidFill>
                  <a:srgbClr val="C8792B"/>
                </a:solidFill>
              </a:rPr>
              <a:t>Dev. Backend</a:t>
            </a:r>
            <a:endParaRPr lang="en-US" sz="1000" dirty="0"/>
          </a:p>
        </p:txBody>
      </p:sp>
      <p:sp>
        <p:nvSpPr>
          <p:cNvPr id="22" name="Text 20"/>
          <p:cNvSpPr/>
          <p:nvPr/>
        </p:nvSpPr>
        <p:spPr>
          <a:xfrm>
            <a:off x="6025896" y="2176272"/>
            <a:ext cx="2606040" cy="475488"/>
          </a:xfrm>
          <a:prstGeom prst="rect">
            <a:avLst/>
          </a:prstGeom>
          <a:noFill/>
          <a:ln/>
        </p:spPr>
        <p:txBody>
          <a:bodyPr wrap="square" lIns="0" tIns="0" rIns="0" bIns="0" rtlCol="0" anchor="ctr"/>
          <a:lstStyle/>
          <a:p>
            <a:pPr marL="0" indent="0" algn="ctr">
              <a:buNone/>
            </a:pPr>
            <a:r>
              <a:rPr lang="en-US" sz="900" dirty="0">
                <a:solidFill>
                  <a:srgbClr val="F0EDE6"/>
                </a:solidFill>
              </a:rPr>
              <a:t>Serveurs • API REST</a:t>
            </a:r>
            <a:endParaRPr lang="en-US" sz="900" dirty="0"/>
          </a:p>
          <a:p>
            <a:pPr marL="0" indent="0" algn="ctr">
              <a:buNone/>
            </a:pPr>
            <a:r>
              <a:rPr lang="en-US" sz="900" dirty="0">
                <a:solidFill>
                  <a:srgbClr val="F0EDE6"/>
                </a:solidFill>
              </a:rPr>
              <a:t>Base de données</a:t>
            </a:r>
            <a:endParaRPr lang="en-US" sz="900" dirty="0"/>
          </a:p>
        </p:txBody>
      </p:sp>
      <p:sp>
        <p:nvSpPr>
          <p:cNvPr id="23" name="Shape 21"/>
          <p:cNvSpPr/>
          <p:nvPr/>
        </p:nvSpPr>
        <p:spPr>
          <a:xfrm>
            <a:off x="1810512" y="2926080"/>
            <a:ext cx="2606040" cy="13716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4" name="Shape 22"/>
          <p:cNvSpPr/>
          <p:nvPr/>
        </p:nvSpPr>
        <p:spPr>
          <a:xfrm>
            <a:off x="1810512" y="2926080"/>
            <a:ext cx="2606040" cy="54864"/>
          </a:xfrm>
          <a:prstGeom prst="rect">
            <a:avLst/>
          </a:prstGeom>
          <a:solidFill>
            <a:srgbClr val="C8792B"/>
          </a:solidFill>
          <a:ln w="12700">
            <a:solidFill>
              <a:srgbClr val="C8792B"/>
            </a:solidFill>
            <a:prstDash val="solid"/>
          </a:ln>
        </p:spPr>
      </p:sp>
      <p:sp>
        <p:nvSpPr>
          <p:cNvPr id="25" name="Text 23"/>
          <p:cNvSpPr/>
          <p:nvPr/>
        </p:nvSpPr>
        <p:spPr>
          <a:xfrm>
            <a:off x="1810512" y="2999232"/>
            <a:ext cx="2606040" cy="457200"/>
          </a:xfrm>
          <a:prstGeom prst="rect">
            <a:avLst/>
          </a:prstGeom>
          <a:noFill/>
          <a:ln/>
        </p:spPr>
        <p:txBody>
          <a:bodyPr wrap="square" lIns="0" tIns="0" rIns="0" bIns="0" rtlCol="0" anchor="ctr"/>
          <a:lstStyle/>
          <a:p>
            <a:pPr marL="0" indent="0" algn="ctr">
              <a:buNone/>
            </a:pPr>
            <a:r>
              <a:rPr lang="en-US" sz="1100" b="1" dirty="0">
                <a:solidFill>
                  <a:srgbClr val="F0EDE6"/>
                </a:solidFill>
              </a:rPr>
              <a:t>Claude</a:t>
            </a:r>
            <a:endParaRPr lang="en-US" sz="1100" dirty="0"/>
          </a:p>
          <a:p>
            <a:pPr marL="0" indent="0" algn="ctr">
              <a:buNone/>
            </a:pPr>
            <a:r>
              <a:rPr lang="en-US" sz="1100" b="1" dirty="0">
                <a:solidFill>
                  <a:srgbClr val="F0EDE6"/>
                </a:solidFill>
              </a:rPr>
              <a:t>da SILVA</a:t>
            </a:r>
            <a:endParaRPr lang="en-US" sz="1100" dirty="0"/>
          </a:p>
        </p:txBody>
      </p:sp>
      <p:sp>
        <p:nvSpPr>
          <p:cNvPr id="26" name="Text 24"/>
          <p:cNvSpPr/>
          <p:nvPr/>
        </p:nvSpPr>
        <p:spPr>
          <a:xfrm>
            <a:off x="1810512" y="3474720"/>
            <a:ext cx="2606040" cy="292608"/>
          </a:xfrm>
          <a:prstGeom prst="rect">
            <a:avLst/>
          </a:prstGeom>
          <a:noFill/>
          <a:ln/>
        </p:spPr>
        <p:txBody>
          <a:bodyPr wrap="square" lIns="0" tIns="0" rIns="0" bIns="0" rtlCol="0" anchor="ctr"/>
          <a:lstStyle/>
          <a:p>
            <a:pPr marL="0" indent="0" algn="ctr">
              <a:buNone/>
            </a:pPr>
            <a:r>
              <a:rPr lang="en-US" sz="1000" b="1" dirty="0">
                <a:solidFill>
                  <a:srgbClr val="C8792B"/>
                </a:solidFill>
              </a:rPr>
              <a:t>Dev. Web</a:t>
            </a:r>
            <a:endParaRPr lang="en-US" sz="1000" dirty="0"/>
          </a:p>
        </p:txBody>
      </p:sp>
      <p:sp>
        <p:nvSpPr>
          <p:cNvPr id="27" name="Text 25"/>
          <p:cNvSpPr/>
          <p:nvPr/>
        </p:nvSpPr>
        <p:spPr>
          <a:xfrm>
            <a:off x="1810512" y="3776472"/>
            <a:ext cx="2606040" cy="475488"/>
          </a:xfrm>
          <a:prstGeom prst="rect">
            <a:avLst/>
          </a:prstGeom>
          <a:noFill/>
          <a:ln/>
        </p:spPr>
        <p:txBody>
          <a:bodyPr wrap="square" lIns="0" tIns="0" rIns="0" bIns="0" rtlCol="0" anchor="ctr"/>
          <a:lstStyle/>
          <a:p>
            <a:pPr marL="0" indent="0" algn="ctr">
              <a:buNone/>
            </a:pPr>
            <a:r>
              <a:rPr lang="en-US" sz="900" dirty="0">
                <a:solidFill>
                  <a:srgbClr val="F0EDE6"/>
                </a:solidFill>
              </a:rPr>
              <a:t>Interface utilisateur</a:t>
            </a:r>
            <a:endParaRPr lang="en-US" sz="900" dirty="0"/>
          </a:p>
          <a:p>
            <a:pPr marL="0" indent="0" algn="ctr">
              <a:buNone/>
            </a:pPr>
            <a:r>
              <a:rPr lang="en-US" sz="900" dirty="0">
                <a:solidFill>
                  <a:srgbClr val="F0EDE6"/>
                </a:solidFill>
              </a:rPr>
              <a:t>Expérience web</a:t>
            </a:r>
            <a:endParaRPr lang="en-US" sz="900" dirty="0"/>
          </a:p>
        </p:txBody>
      </p:sp>
      <p:sp>
        <p:nvSpPr>
          <p:cNvPr id="28" name="Shape 26"/>
          <p:cNvSpPr/>
          <p:nvPr/>
        </p:nvSpPr>
        <p:spPr>
          <a:xfrm>
            <a:off x="4617720" y="2926080"/>
            <a:ext cx="2606040" cy="137160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29" name="Shape 27"/>
          <p:cNvSpPr/>
          <p:nvPr/>
        </p:nvSpPr>
        <p:spPr>
          <a:xfrm>
            <a:off x="4617720" y="2926080"/>
            <a:ext cx="2606040" cy="54864"/>
          </a:xfrm>
          <a:prstGeom prst="rect">
            <a:avLst/>
          </a:prstGeom>
          <a:solidFill>
            <a:srgbClr val="C8792B"/>
          </a:solidFill>
          <a:ln w="12700">
            <a:solidFill>
              <a:srgbClr val="C8792B"/>
            </a:solidFill>
            <a:prstDash val="solid"/>
          </a:ln>
        </p:spPr>
      </p:sp>
      <p:sp>
        <p:nvSpPr>
          <p:cNvPr id="30" name="Text 28"/>
          <p:cNvSpPr/>
          <p:nvPr/>
        </p:nvSpPr>
        <p:spPr>
          <a:xfrm>
            <a:off x="4617720" y="2999232"/>
            <a:ext cx="2606040" cy="457200"/>
          </a:xfrm>
          <a:prstGeom prst="rect">
            <a:avLst/>
          </a:prstGeom>
          <a:noFill/>
          <a:ln/>
        </p:spPr>
        <p:txBody>
          <a:bodyPr wrap="square" lIns="0" tIns="0" rIns="0" bIns="0" rtlCol="0" anchor="ctr"/>
          <a:lstStyle/>
          <a:p>
            <a:pPr marL="0" indent="0" algn="ctr">
              <a:buNone/>
            </a:pPr>
            <a:r>
              <a:rPr lang="en-US" sz="1100" b="1" dirty="0">
                <a:solidFill>
                  <a:srgbClr val="F0EDE6"/>
                </a:solidFill>
              </a:rPr>
              <a:t>Charlotte</a:t>
            </a:r>
            <a:endParaRPr lang="en-US" sz="1100" dirty="0"/>
          </a:p>
          <a:p>
            <a:pPr marL="0" indent="0" algn="ctr">
              <a:buNone/>
            </a:pPr>
            <a:r>
              <a:rPr lang="en-US" sz="1100" b="1" dirty="0">
                <a:solidFill>
                  <a:srgbClr val="F0EDE6"/>
                </a:solidFill>
              </a:rPr>
              <a:t>ECLOU</a:t>
            </a:r>
            <a:endParaRPr lang="en-US" sz="1100" dirty="0"/>
          </a:p>
        </p:txBody>
      </p:sp>
      <p:sp>
        <p:nvSpPr>
          <p:cNvPr id="31" name="Text 29"/>
          <p:cNvSpPr/>
          <p:nvPr/>
        </p:nvSpPr>
        <p:spPr>
          <a:xfrm>
            <a:off x="4617720" y="3474720"/>
            <a:ext cx="2606040" cy="292608"/>
          </a:xfrm>
          <a:prstGeom prst="rect">
            <a:avLst/>
          </a:prstGeom>
          <a:noFill/>
          <a:ln/>
        </p:spPr>
        <p:txBody>
          <a:bodyPr wrap="square" lIns="0" tIns="0" rIns="0" bIns="0" rtlCol="0" anchor="ctr"/>
          <a:lstStyle/>
          <a:p>
            <a:pPr marL="0" indent="0" algn="ctr">
              <a:buNone/>
            </a:pPr>
            <a:r>
              <a:rPr lang="en-US" sz="1000" b="1" dirty="0">
                <a:solidFill>
                  <a:srgbClr val="C8792B"/>
                </a:solidFill>
              </a:rPr>
              <a:t>Dev. Mobile</a:t>
            </a:r>
            <a:endParaRPr lang="en-US" sz="1000" dirty="0"/>
          </a:p>
        </p:txBody>
      </p:sp>
      <p:sp>
        <p:nvSpPr>
          <p:cNvPr id="32" name="Text 30"/>
          <p:cNvSpPr/>
          <p:nvPr/>
        </p:nvSpPr>
        <p:spPr>
          <a:xfrm>
            <a:off x="4617720" y="3776472"/>
            <a:ext cx="2606040" cy="475488"/>
          </a:xfrm>
          <a:prstGeom prst="rect">
            <a:avLst/>
          </a:prstGeom>
          <a:noFill/>
          <a:ln/>
        </p:spPr>
        <p:txBody>
          <a:bodyPr wrap="square" lIns="0" tIns="0" rIns="0" bIns="0" rtlCol="0" anchor="ctr"/>
          <a:lstStyle/>
          <a:p>
            <a:pPr marL="0" indent="0" algn="ctr">
              <a:buNone/>
            </a:pPr>
            <a:r>
              <a:rPr lang="en-US" sz="900" dirty="0">
                <a:solidFill>
                  <a:srgbClr val="F0EDE6"/>
                </a:solidFill>
              </a:rPr>
              <a:t>iOS &amp; Android</a:t>
            </a:r>
            <a:endParaRPr lang="en-US" sz="900" dirty="0"/>
          </a:p>
          <a:p>
            <a:pPr marL="0" indent="0" algn="ctr">
              <a:buNone/>
            </a:pPr>
            <a:r>
              <a:rPr lang="en-US" sz="900" dirty="0">
                <a:solidFill>
                  <a:srgbClr val="F0EDE6"/>
                </a:solidFill>
              </a:rPr>
              <a:t>React Native</a:t>
            </a:r>
            <a:endParaRPr lang="en-US" sz="900" dirty="0"/>
          </a:p>
        </p:txBody>
      </p:sp>
      <p:sp>
        <p:nvSpPr>
          <p:cNvPr id="33" name="Shape 31"/>
          <p:cNvSpPr/>
          <p:nvPr/>
        </p:nvSpPr>
        <p:spPr>
          <a:xfrm>
            <a:off x="404854" y="4240298"/>
            <a:ext cx="8321040" cy="457200"/>
          </a:xfrm>
          <a:prstGeom prst="rect">
            <a:avLst/>
          </a:prstGeom>
          <a:solidFill>
            <a:srgbClr val="1A2535"/>
          </a:solidFill>
          <a:ln w="12700">
            <a:solidFill>
              <a:srgbClr val="C8792B"/>
            </a:solidFill>
            <a:prstDash val="solid"/>
          </a:ln>
        </p:spPr>
      </p:sp>
      <p:sp>
        <p:nvSpPr>
          <p:cNvPr id="34" name="Shape 32"/>
          <p:cNvSpPr/>
          <p:nvPr/>
        </p:nvSpPr>
        <p:spPr>
          <a:xfrm>
            <a:off x="411480" y="4233672"/>
            <a:ext cx="109728" cy="457200"/>
          </a:xfrm>
          <a:prstGeom prst="rect">
            <a:avLst/>
          </a:prstGeom>
          <a:solidFill>
            <a:srgbClr val="C8792B"/>
          </a:solidFill>
          <a:ln w="12700">
            <a:solidFill>
              <a:srgbClr val="C8792B"/>
            </a:solidFill>
            <a:prstDash val="solid"/>
          </a:ln>
        </p:spPr>
      </p:sp>
      <p:sp>
        <p:nvSpPr>
          <p:cNvPr id="35" name="Text 33"/>
          <p:cNvSpPr/>
          <p:nvPr/>
        </p:nvSpPr>
        <p:spPr>
          <a:xfrm>
            <a:off x="640080" y="4233672"/>
            <a:ext cx="2926080" cy="457200"/>
          </a:xfrm>
          <a:prstGeom prst="rect">
            <a:avLst/>
          </a:prstGeom>
          <a:noFill/>
          <a:ln/>
        </p:spPr>
        <p:txBody>
          <a:bodyPr wrap="square" lIns="0" tIns="0" rIns="0" bIns="0" rtlCol="0" anchor="ctr"/>
          <a:lstStyle/>
          <a:p>
            <a:pPr marL="0" indent="0" algn="l">
              <a:buNone/>
            </a:pPr>
            <a:r>
              <a:rPr lang="en-US" sz="1100" b="1" dirty="0">
                <a:solidFill>
                  <a:srgbClr val="C8792B"/>
                </a:solidFill>
              </a:rPr>
              <a:t>SUPERVISEUR  —  Freddy AGBONA</a:t>
            </a:r>
            <a:endParaRPr lang="en-US" sz="1100" dirty="0"/>
          </a:p>
        </p:txBody>
      </p:sp>
      <p:sp>
        <p:nvSpPr>
          <p:cNvPr id="36" name="Text 34"/>
          <p:cNvSpPr/>
          <p:nvPr/>
        </p:nvSpPr>
        <p:spPr>
          <a:xfrm>
            <a:off x="3611880" y="4233672"/>
            <a:ext cx="5029200" cy="457200"/>
          </a:xfrm>
          <a:prstGeom prst="rect">
            <a:avLst/>
          </a:prstGeom>
          <a:noFill/>
          <a:ln/>
        </p:spPr>
        <p:txBody>
          <a:bodyPr wrap="square" lIns="0" tIns="0" rIns="0" bIns="0" rtlCol="0" anchor="ctr"/>
          <a:lstStyle/>
          <a:p>
            <a:pPr marL="0" indent="0" algn="l">
              <a:buNone/>
            </a:pPr>
            <a:r>
              <a:rPr lang="en-US" sz="1000" i="1" dirty="0">
                <a:solidFill>
                  <a:srgbClr val="F0EDE6"/>
                </a:solidFill>
              </a:rPr>
              <a:t>Software Engineer  •  Cofondateur de Lurnix  —  Garant de la qualité technique</a:t>
            </a:r>
            <a:endParaRPr lang="en-US" sz="1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2B"/>
          </a:solidFill>
          <a:ln w="12700">
            <a:solidFill>
              <a:srgbClr val="C8792B"/>
            </a:solidFill>
            <a:prstDash val="solid"/>
          </a:ln>
        </p:spPr>
      </p:sp>
      <p:sp>
        <p:nvSpPr>
          <p:cNvPr id="3" name="Shape 1"/>
          <p:cNvSpPr/>
          <p:nvPr/>
        </p:nvSpPr>
        <p:spPr>
          <a:xfrm>
            <a:off x="411480" y="164592"/>
            <a:ext cx="1828800" cy="292608"/>
          </a:xfrm>
          <a:prstGeom prst="rect">
            <a:avLst/>
          </a:prstGeom>
          <a:solidFill>
            <a:srgbClr val="C8792B"/>
          </a:solidFill>
          <a:ln w="12700">
            <a:solidFill>
              <a:srgbClr val="C8792B"/>
            </a:solidFill>
            <a:prstDash val="solid"/>
          </a:ln>
        </p:spPr>
      </p:sp>
      <p:sp>
        <p:nvSpPr>
          <p:cNvPr id="4" name="Text 2"/>
          <p:cNvSpPr/>
          <p:nvPr/>
        </p:nvSpPr>
        <p:spPr>
          <a:xfrm>
            <a:off x="411480" y="164592"/>
            <a:ext cx="1828800" cy="292608"/>
          </a:xfrm>
          <a:prstGeom prst="rect">
            <a:avLst/>
          </a:prstGeom>
          <a:noFill/>
          <a:ln/>
        </p:spPr>
        <p:txBody>
          <a:bodyPr wrap="square" lIns="0" tIns="0" rIns="0" bIns="0" rtlCol="0" anchor="ctr"/>
          <a:lstStyle/>
          <a:p>
            <a:pPr marL="0" indent="0" algn="ctr">
              <a:buNone/>
            </a:pPr>
            <a:r>
              <a:rPr lang="en-US" sz="900" b="1" dirty="0">
                <a:solidFill>
                  <a:srgbClr val="0C1117"/>
                </a:solidFill>
              </a:rPr>
              <a:t>CONCLUSION</a:t>
            </a:r>
            <a:endParaRPr lang="en-US" sz="900" dirty="0"/>
          </a:p>
        </p:txBody>
      </p:sp>
      <p:sp>
        <p:nvSpPr>
          <p:cNvPr id="5" name="Text 3"/>
          <p:cNvSpPr/>
          <p:nvPr/>
        </p:nvSpPr>
        <p:spPr>
          <a:xfrm>
            <a:off x="411480" y="1303351"/>
            <a:ext cx="4983480" cy="1115568"/>
          </a:xfrm>
          <a:prstGeom prst="rect">
            <a:avLst/>
          </a:prstGeom>
          <a:noFill/>
          <a:ln/>
        </p:spPr>
        <p:txBody>
          <a:bodyPr wrap="square" lIns="0" tIns="0" rIns="0" bIns="0" rtlCol="0" anchor="t"/>
          <a:lstStyle/>
          <a:p>
            <a:pPr marL="0" indent="0" algn="ctr">
              <a:buNone/>
            </a:pPr>
            <a:r>
              <a:rPr lang="en-US" sz="3200" b="1" dirty="0">
                <a:solidFill>
                  <a:srgbClr val="F0EDE6"/>
                </a:solidFill>
              </a:rPr>
              <a:t>MonEntreprise</a:t>
            </a:r>
            <a:endParaRPr lang="en-US" sz="3200" dirty="0"/>
          </a:p>
          <a:p>
            <a:pPr marL="0" indent="0" algn="ctr">
              <a:buNone/>
            </a:pPr>
            <a:r>
              <a:rPr lang="en-US" sz="3200" b="1" dirty="0">
                <a:solidFill>
                  <a:srgbClr val="F0EDE6"/>
                </a:solidFill>
              </a:rPr>
              <a:t>est </a:t>
            </a:r>
            <a:r>
              <a:rPr lang="en-US" sz="3200" b="1" dirty="0" err="1">
                <a:solidFill>
                  <a:srgbClr val="F0EDE6"/>
                </a:solidFill>
              </a:rPr>
              <a:t>prête</a:t>
            </a:r>
            <a:r>
              <a:rPr lang="en-US" sz="3200" b="1" dirty="0">
                <a:solidFill>
                  <a:srgbClr val="F0EDE6"/>
                </a:solidFill>
              </a:rPr>
              <a:t> à</a:t>
            </a:r>
            <a:r>
              <a:rPr lang="en-US" sz="3200" dirty="0"/>
              <a:t> </a:t>
            </a:r>
            <a:r>
              <a:rPr lang="en-US" sz="3200" b="1" dirty="0">
                <a:solidFill>
                  <a:srgbClr val="F0EDE6"/>
                </a:solidFill>
              </a:rPr>
              <a:t>changer la </a:t>
            </a:r>
            <a:r>
              <a:rPr lang="en-US" sz="3200" b="1" dirty="0" err="1">
                <a:solidFill>
                  <a:srgbClr val="F0EDE6"/>
                </a:solidFill>
              </a:rPr>
              <a:t>donne</a:t>
            </a:r>
            <a:r>
              <a:rPr lang="en-US" sz="3200" b="1" dirty="0">
                <a:solidFill>
                  <a:srgbClr val="F0EDE6"/>
                </a:solidFill>
              </a:rPr>
              <a:t>.</a:t>
            </a:r>
            <a:endParaRPr lang="en-US" sz="3200" dirty="0"/>
          </a:p>
        </p:txBody>
      </p:sp>
      <p:sp>
        <p:nvSpPr>
          <p:cNvPr id="6" name="Text 4"/>
          <p:cNvSpPr/>
          <p:nvPr/>
        </p:nvSpPr>
        <p:spPr>
          <a:xfrm>
            <a:off x="411480" y="2743200"/>
            <a:ext cx="4754880" cy="915062"/>
          </a:xfrm>
          <a:prstGeom prst="rect">
            <a:avLst/>
          </a:prstGeom>
          <a:noFill/>
          <a:ln/>
        </p:spPr>
        <p:txBody>
          <a:bodyPr wrap="square" lIns="0" tIns="0" rIns="0" bIns="0" rtlCol="0" anchor="t"/>
          <a:lstStyle/>
          <a:p>
            <a:pPr marL="0" indent="0" algn="just">
              <a:buNone/>
            </a:pPr>
            <a:r>
              <a:rPr lang="en-US" sz="1400" b="1" dirty="0">
                <a:solidFill>
                  <a:srgbClr val="F0EDE6"/>
                </a:solidFill>
              </a:rPr>
              <a:t>Notre équipe réunit toutes les compétences pour livrer une plateforme robuste, inclusive et conforme aux réglementations régionales. Nous demandons votre soutien pour donner aux MPME béninoises les moyens de leurs ambitions.</a:t>
            </a:r>
            <a:endParaRPr lang="en-US" sz="1400" b="1" dirty="0"/>
          </a:p>
        </p:txBody>
      </p:sp>
      <p:sp>
        <p:nvSpPr>
          <p:cNvPr id="7" name="Shape 5"/>
          <p:cNvSpPr/>
          <p:nvPr/>
        </p:nvSpPr>
        <p:spPr>
          <a:xfrm>
            <a:off x="5623560" y="685800"/>
            <a:ext cx="3108960" cy="12344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8" name="Shape 6"/>
          <p:cNvSpPr/>
          <p:nvPr/>
        </p:nvSpPr>
        <p:spPr>
          <a:xfrm>
            <a:off x="5623560" y="685800"/>
            <a:ext cx="91440" cy="1234440"/>
          </a:xfrm>
          <a:prstGeom prst="rect">
            <a:avLst/>
          </a:prstGeom>
          <a:solidFill>
            <a:srgbClr val="C8792B"/>
          </a:solidFill>
          <a:ln w="12700">
            <a:solidFill>
              <a:srgbClr val="C8792B"/>
            </a:solidFill>
            <a:prstDash val="solid"/>
          </a:ln>
        </p:spPr>
      </p:sp>
      <p:sp>
        <p:nvSpPr>
          <p:cNvPr id="9" name="Text 7"/>
          <p:cNvSpPr/>
          <p:nvPr/>
        </p:nvSpPr>
        <p:spPr>
          <a:xfrm>
            <a:off x="5943600" y="713232"/>
            <a:ext cx="914400" cy="1188720"/>
          </a:xfrm>
          <a:prstGeom prst="rect">
            <a:avLst/>
          </a:prstGeom>
          <a:noFill/>
          <a:ln/>
        </p:spPr>
        <p:txBody>
          <a:bodyPr wrap="square" lIns="0" tIns="0" rIns="0" bIns="0" rtlCol="0" anchor="ctr"/>
          <a:lstStyle/>
          <a:p>
            <a:pPr marL="0" indent="0" algn="ctr">
              <a:buNone/>
            </a:pPr>
            <a:r>
              <a:rPr lang="en-US" sz="5200" b="1" dirty="0">
                <a:solidFill>
                  <a:srgbClr val="C8792B"/>
                </a:solidFill>
              </a:rPr>
              <a:t>4</a:t>
            </a:r>
            <a:endParaRPr lang="en-US" sz="5200" dirty="0"/>
          </a:p>
        </p:txBody>
      </p:sp>
      <p:sp>
        <p:nvSpPr>
          <p:cNvPr id="10" name="Text 8"/>
          <p:cNvSpPr/>
          <p:nvPr/>
        </p:nvSpPr>
        <p:spPr>
          <a:xfrm>
            <a:off x="6903720" y="777240"/>
            <a:ext cx="1737360" cy="1005840"/>
          </a:xfrm>
          <a:prstGeom prst="rect">
            <a:avLst/>
          </a:prstGeom>
          <a:noFill/>
          <a:ln/>
        </p:spPr>
        <p:txBody>
          <a:bodyPr wrap="square" lIns="0" tIns="0" rIns="0" bIns="0" rtlCol="0" anchor="ctr"/>
          <a:lstStyle/>
          <a:p>
            <a:pPr marL="0" indent="0" algn="l">
              <a:buNone/>
            </a:pPr>
            <a:r>
              <a:rPr lang="en-US" sz="1100" dirty="0">
                <a:solidFill>
                  <a:srgbClr val="F0EDE6"/>
                </a:solidFill>
              </a:rPr>
              <a:t>Problématiques</a:t>
            </a:r>
            <a:endParaRPr lang="en-US" sz="1100" dirty="0"/>
          </a:p>
          <a:p>
            <a:pPr marL="0" indent="0" algn="l">
              <a:buNone/>
            </a:pPr>
            <a:r>
              <a:rPr lang="en-US" sz="1100" dirty="0">
                <a:solidFill>
                  <a:srgbClr val="F0EDE6"/>
                </a:solidFill>
              </a:rPr>
              <a:t>résolues</a:t>
            </a:r>
            <a:endParaRPr lang="en-US" sz="1100" dirty="0"/>
          </a:p>
        </p:txBody>
      </p:sp>
      <p:sp>
        <p:nvSpPr>
          <p:cNvPr id="11" name="Shape 9"/>
          <p:cNvSpPr/>
          <p:nvPr/>
        </p:nvSpPr>
        <p:spPr>
          <a:xfrm>
            <a:off x="5623560" y="2075688"/>
            <a:ext cx="3108960" cy="12344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2" name="Shape 10"/>
          <p:cNvSpPr/>
          <p:nvPr/>
        </p:nvSpPr>
        <p:spPr>
          <a:xfrm>
            <a:off x="5623560" y="2075688"/>
            <a:ext cx="91440" cy="1234440"/>
          </a:xfrm>
          <a:prstGeom prst="rect">
            <a:avLst/>
          </a:prstGeom>
          <a:solidFill>
            <a:srgbClr val="C8792B"/>
          </a:solidFill>
          <a:ln w="12700">
            <a:solidFill>
              <a:srgbClr val="C8792B"/>
            </a:solidFill>
            <a:prstDash val="solid"/>
          </a:ln>
        </p:spPr>
      </p:sp>
      <p:sp>
        <p:nvSpPr>
          <p:cNvPr id="13" name="Text 11"/>
          <p:cNvSpPr/>
          <p:nvPr/>
        </p:nvSpPr>
        <p:spPr>
          <a:xfrm>
            <a:off x="5943600" y="2103120"/>
            <a:ext cx="914400" cy="1188720"/>
          </a:xfrm>
          <a:prstGeom prst="rect">
            <a:avLst/>
          </a:prstGeom>
          <a:noFill/>
          <a:ln/>
        </p:spPr>
        <p:txBody>
          <a:bodyPr wrap="square" lIns="0" tIns="0" rIns="0" bIns="0" rtlCol="0" anchor="ctr"/>
          <a:lstStyle/>
          <a:p>
            <a:pPr marL="0" indent="0" algn="ctr">
              <a:buNone/>
            </a:pPr>
            <a:r>
              <a:rPr lang="en-US" sz="5200" b="1" dirty="0">
                <a:solidFill>
                  <a:srgbClr val="C8792B"/>
                </a:solidFill>
              </a:rPr>
              <a:t>3</a:t>
            </a:r>
            <a:endParaRPr lang="en-US" sz="5200" dirty="0"/>
          </a:p>
        </p:txBody>
      </p:sp>
      <p:sp>
        <p:nvSpPr>
          <p:cNvPr id="14" name="Text 12"/>
          <p:cNvSpPr/>
          <p:nvPr/>
        </p:nvSpPr>
        <p:spPr>
          <a:xfrm>
            <a:off x="6903720" y="2167128"/>
            <a:ext cx="1737360" cy="1005840"/>
          </a:xfrm>
          <a:prstGeom prst="rect">
            <a:avLst/>
          </a:prstGeom>
          <a:noFill/>
          <a:ln/>
        </p:spPr>
        <p:txBody>
          <a:bodyPr wrap="square" lIns="0" tIns="0" rIns="0" bIns="0" rtlCol="0" anchor="ctr"/>
          <a:lstStyle/>
          <a:p>
            <a:pPr marL="0" indent="0" algn="l">
              <a:buNone/>
            </a:pPr>
            <a:r>
              <a:rPr lang="en-US" sz="1100" dirty="0">
                <a:solidFill>
                  <a:srgbClr val="F0EDE6"/>
                </a:solidFill>
              </a:rPr>
              <a:t>Langues locales</a:t>
            </a:r>
            <a:endParaRPr lang="en-US" sz="1100" dirty="0"/>
          </a:p>
          <a:p>
            <a:pPr marL="0" indent="0" algn="l">
              <a:buNone/>
            </a:pPr>
            <a:r>
              <a:rPr lang="en-US" sz="1100" dirty="0">
                <a:solidFill>
                  <a:srgbClr val="F0EDE6"/>
                </a:solidFill>
              </a:rPr>
              <a:t>intégrées</a:t>
            </a:r>
            <a:endParaRPr lang="en-US" sz="1100" dirty="0"/>
          </a:p>
        </p:txBody>
      </p:sp>
      <p:sp>
        <p:nvSpPr>
          <p:cNvPr id="15" name="Shape 13"/>
          <p:cNvSpPr/>
          <p:nvPr/>
        </p:nvSpPr>
        <p:spPr>
          <a:xfrm>
            <a:off x="5623560" y="3465576"/>
            <a:ext cx="3108960" cy="1234440"/>
          </a:xfrm>
          <a:prstGeom prst="rect">
            <a:avLst/>
          </a:prstGeom>
          <a:solidFill>
            <a:srgbClr val="1A2535"/>
          </a:solidFill>
          <a:ln w="6350">
            <a:solidFill>
              <a:srgbClr val="C8792B"/>
            </a:solidFill>
            <a:prstDash val="solid"/>
          </a:ln>
          <a:effectLst>
            <a:outerShdw blurRad="101600" dist="38100" dir="8100000" algn="bl" rotWithShape="0">
              <a:srgbClr val="000000">
                <a:alpha val="25000"/>
              </a:srgbClr>
            </a:outerShdw>
          </a:effectLst>
        </p:spPr>
      </p:sp>
      <p:sp>
        <p:nvSpPr>
          <p:cNvPr id="16" name="Shape 14"/>
          <p:cNvSpPr/>
          <p:nvPr/>
        </p:nvSpPr>
        <p:spPr>
          <a:xfrm>
            <a:off x="5623560" y="3465576"/>
            <a:ext cx="91440" cy="1234440"/>
          </a:xfrm>
          <a:prstGeom prst="rect">
            <a:avLst/>
          </a:prstGeom>
          <a:solidFill>
            <a:srgbClr val="C8792B"/>
          </a:solidFill>
          <a:ln w="12700">
            <a:solidFill>
              <a:srgbClr val="C8792B"/>
            </a:solidFill>
            <a:prstDash val="solid"/>
          </a:ln>
        </p:spPr>
      </p:sp>
      <p:sp>
        <p:nvSpPr>
          <p:cNvPr id="17" name="Text 15"/>
          <p:cNvSpPr/>
          <p:nvPr/>
        </p:nvSpPr>
        <p:spPr>
          <a:xfrm>
            <a:off x="5943600" y="3493008"/>
            <a:ext cx="914400" cy="1188720"/>
          </a:xfrm>
          <a:prstGeom prst="rect">
            <a:avLst/>
          </a:prstGeom>
          <a:noFill/>
          <a:ln/>
        </p:spPr>
        <p:txBody>
          <a:bodyPr wrap="square" lIns="0" tIns="0" rIns="0" bIns="0" rtlCol="0" anchor="ctr"/>
          <a:lstStyle/>
          <a:p>
            <a:pPr marL="0" indent="0" algn="ctr">
              <a:buNone/>
            </a:pPr>
            <a:r>
              <a:rPr lang="en-US" sz="5200" b="1" dirty="0">
                <a:solidFill>
                  <a:srgbClr val="C8792B"/>
                </a:solidFill>
              </a:rPr>
              <a:t>17</a:t>
            </a:r>
            <a:endParaRPr lang="en-US" sz="5200" dirty="0"/>
          </a:p>
        </p:txBody>
      </p:sp>
      <p:sp>
        <p:nvSpPr>
          <p:cNvPr id="18" name="Text 16"/>
          <p:cNvSpPr/>
          <p:nvPr/>
        </p:nvSpPr>
        <p:spPr>
          <a:xfrm>
            <a:off x="6903720" y="3557016"/>
            <a:ext cx="1737360" cy="1005840"/>
          </a:xfrm>
          <a:prstGeom prst="rect">
            <a:avLst/>
          </a:prstGeom>
          <a:noFill/>
          <a:ln/>
        </p:spPr>
        <p:txBody>
          <a:bodyPr wrap="square" lIns="0" tIns="0" rIns="0" bIns="0" rtlCol="0" anchor="ctr"/>
          <a:lstStyle/>
          <a:p>
            <a:pPr marL="0" indent="0" algn="l">
              <a:buNone/>
            </a:pPr>
            <a:r>
              <a:rPr lang="en-US" sz="1100" dirty="0">
                <a:solidFill>
                  <a:srgbClr val="F0EDE6"/>
                </a:solidFill>
              </a:rPr>
              <a:t>Pays couverts par l'OHADA</a:t>
            </a:r>
            <a:endParaRPr lang="en-US" sz="1100" dirty="0"/>
          </a:p>
          <a:p>
            <a:pPr marL="0" indent="0" algn="l">
              <a:buNone/>
            </a:pPr>
            <a:r>
              <a:rPr lang="en-US" sz="1100" dirty="0">
                <a:solidFill>
                  <a:srgbClr val="F0EDE6"/>
                </a:solidFill>
              </a:rPr>
              <a:t>et marché potentiel</a:t>
            </a:r>
            <a:endParaRPr lang="en-US" sz="1100" dirty="0"/>
          </a:p>
        </p:txBody>
      </p:sp>
      <p:sp>
        <p:nvSpPr>
          <p:cNvPr id="19" name="Shape 17"/>
          <p:cNvSpPr/>
          <p:nvPr/>
        </p:nvSpPr>
        <p:spPr>
          <a:xfrm>
            <a:off x="0" y="4800600"/>
            <a:ext cx="9144000" cy="342900"/>
          </a:xfrm>
          <a:prstGeom prst="rect">
            <a:avLst/>
          </a:prstGeom>
          <a:solidFill>
            <a:srgbClr val="1A2535"/>
          </a:solidFill>
          <a:ln w="12700">
            <a:solidFill>
              <a:srgbClr val="1A2535"/>
            </a:solidFill>
            <a:prstDash val="solid"/>
          </a:ln>
        </p:spPr>
      </p:sp>
      <p:sp>
        <p:nvSpPr>
          <p:cNvPr id="20" name="Text 18"/>
          <p:cNvSpPr/>
          <p:nvPr/>
        </p:nvSpPr>
        <p:spPr>
          <a:xfrm>
            <a:off x="411480" y="4800600"/>
            <a:ext cx="3657600" cy="342900"/>
          </a:xfrm>
          <a:prstGeom prst="rect">
            <a:avLst/>
          </a:prstGeom>
          <a:noFill/>
          <a:ln/>
        </p:spPr>
        <p:txBody>
          <a:bodyPr wrap="square" lIns="0" tIns="0" rIns="0" bIns="0" rtlCol="0" anchor="ctr"/>
          <a:lstStyle/>
          <a:p>
            <a:pPr marL="0" indent="0" algn="l">
              <a:buNone/>
            </a:pPr>
            <a:endParaRPr lang="en-US" sz="1000" dirty="0"/>
          </a:p>
        </p:txBody>
      </p:sp>
      <p:sp>
        <p:nvSpPr>
          <p:cNvPr id="21" name="Text 19"/>
          <p:cNvSpPr/>
          <p:nvPr/>
        </p:nvSpPr>
        <p:spPr>
          <a:xfrm>
            <a:off x="2276875" y="4800600"/>
            <a:ext cx="3282411" cy="342900"/>
          </a:xfrm>
          <a:prstGeom prst="rect">
            <a:avLst/>
          </a:prstGeom>
          <a:noFill/>
          <a:ln/>
        </p:spPr>
        <p:txBody>
          <a:bodyPr wrap="square" lIns="0" tIns="0" rIns="0" bIns="0" rtlCol="0" anchor="ctr"/>
          <a:lstStyle/>
          <a:p>
            <a:pPr marL="0" indent="0" algn="r">
              <a:buNone/>
            </a:pPr>
            <a:r>
              <a:rPr lang="en-US" sz="2000" i="1" dirty="0">
                <a:solidFill>
                  <a:srgbClr val="F0EDE6"/>
                </a:solidFill>
              </a:rPr>
              <a:t>Merci pour </a:t>
            </a:r>
            <a:r>
              <a:rPr lang="en-US" sz="2000" i="1" dirty="0" err="1">
                <a:solidFill>
                  <a:srgbClr val="F0EDE6"/>
                </a:solidFill>
              </a:rPr>
              <a:t>votre</a:t>
            </a:r>
            <a:r>
              <a:rPr lang="en-US" sz="2000" i="1" dirty="0">
                <a:solidFill>
                  <a:srgbClr val="F0EDE6"/>
                </a:solidFill>
              </a:rPr>
              <a:t> attention !</a:t>
            </a: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1883</TotalTime>
  <Words>1005</Words>
  <Application>Microsoft Office PowerPoint</Application>
  <PresentationFormat>Affichage à l'écran (16:9)</PresentationFormat>
  <Paragraphs>199</Paragraphs>
  <Slides>10</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10</vt:i4>
      </vt:variant>
    </vt:vector>
  </HeadingPairs>
  <TitlesOfParts>
    <vt:vector size="13"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MonEntreprise — Pitch Deck 2025</dc:title>
  <dc:subject>PptxGenJS Presentation</dc:subject>
  <dc:creator>PptxGenJS</dc:creator>
  <cp:lastModifiedBy>Rim</cp:lastModifiedBy>
  <cp:revision>13</cp:revision>
  <dcterms:created xsi:type="dcterms:W3CDTF">2026-03-20T11:48:57Z</dcterms:created>
  <dcterms:modified xsi:type="dcterms:W3CDTF">2026-03-31T16:43:45Z</dcterms:modified>
</cp:coreProperties>
</file>